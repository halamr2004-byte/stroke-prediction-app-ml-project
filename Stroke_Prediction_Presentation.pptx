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6" r:id="rId8"/>
    <p:sldId id="260" r:id="rId9"/>
    <p:sldId id="261" r:id="rId10"/>
    <p:sldId id="267" r:id="rId11"/>
    <p:sldId id="262" r:id="rId12"/>
    <p:sldId id="263" r:id="rId13"/>
    <p:sldId id="264" r:id="rId14"/>
    <p:sldId id="265"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47A64E65-CD05-420C-8012-5B09C9E21369}" type="datetimeFigureOut">
              <a:rPr/>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DBF7167C-FC4F-4379-8E74-2DA64C14EDC8}" type="slidenum">
              <a:rPr/>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COVER (0:00 – 0:30)
Say: "Hello everyone. In this video I will walk you through my final machine learning project — a stroke prediction system. The goal is to predict whether a patient is at risk of having a stroke using their clinical and demographic data. I will cover every step from cleaning the raw data all the way to deploying a working web application. Let's get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PROJECT OVERVIEW (0:30 – 1:00)
Say: "The project question is: can we predict whether a patient will have a stroke based on their clinical data? I used a synthetic stroke prediction dataset from Kaggle containing 50,000 patient records and 12 features including age, glucose level, BMI, hypertension, heart disease, and smoking status. Only about 4.87% of patients had a stroke — this severe class imbalance is one of the main challenges I had to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DATA CLEANING (1:00 – 1:45)
Say: "Before training any model, I cleaned the data. There were three main issues. First, I dropped the id column because it is just a patient identifier with no predictive value. Second, the BMI column had 201 missing values — I filled them with the median because the median is more robust to outliers than the mean. Third, a tiny number of rows had gender recorded as Other, less than 0.2%, so I removed them.
I also had to handle the severe class imbalance — only 4.87% of patients had a stroke. I solved this by using class_weight balanced in all models.
Finally I engineered a new feature called glucose_bmi_ratio by dividing average glucose level by BMI. High blood sugar combined with high body weight is a known compound risk factor for stroke, so this ratio captures both signals in one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EDA (1:45 – 2:45)
Say: "I explored the data through six different types of plots covering at least seven variables.
The count plot immediately revealed the class imbalance — most patients did not have a stroke. The histogram showed that stroke cases are concentrated in older patients. The box plots compared age, glucose, and BMI between the two groups — stroke patients have higher values across all three. The bar plots showed that patients with hypertension and heart disease have significantly higher stroke rates. The scatter plot confirmed that old age combined with high glucose is the strongest combined risk indicator. And the heatmap showed that age and average glucose level have the strongest statistical correlation with the stroke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EDA (1:45 – 2:45)
Say: "I explored the data through six different types of plots covering at least seven variables.
The count plot immediately revealed the class imbalance — most patients did not have a stroke. The histogram showed that stroke cases are concentrated in older patients. The box plots compared age, glucose, and BMI between the two groups — stroke patients have higher values across all three. The bar plots showed that patients with hypertension and heart disease have significantly higher stroke rates. The scatter plot confirmed that old age combined with high glucose is the strongest combined risk indicator. And the heatmap showed that age and average glucose level have the strongest statistical correlation with the stroke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FEATURE SELECTION (2:45 – 3:20)
Say: "For feature selection I used the Filter Method — SelectKBest with the ANOVA F-test. This ranks every feature by its statistical relationship with the stroke target. I kept the top 8 features. Notably, the engineered feature glucose_bmi_ratio was selected, which confirms it genuinely adds predictive value beyond the individual features it was derived from.
I then applied StandardScaler to normalize the features. This is important for Logistic Regression and SVM which are sensitive to differences in feature scale. The scaler was fitted only on the training data to prevent any data leakage from the test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THREE MODELS (3:20 – 4:15)
Say: "I trained and compared three classifiers from our course labs. The first is Logistic Regression from Lab 04 — a linear model that serves as a strong interpretable baseline. The second is Random Forest with 100 trees from the Random Forest Lab — an ensemble method that combines multiple trees to reduce overfitting. The third is an SVM with an RBF kernel from the SVM Lab — it finds the optimal decision boundary in high-dimensional feature space.
All three models used class_weight balanced to handle the stroke imbalance. Without this setting, models would simply predict no stroke for every patient and appear to have 95% accuracy while being completely useless in practice. Both precision and recall exceeded 0.3 for all models, meeting the project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THREE MODELS (3:20 – 4:15)
Say: "I trained and compared three classifiers from our course labs. The first is Logistic Regression from Lab 04 — a linear model that serves as a strong interpretable baseline. The second is Random Forest with 100 trees from the Random Forest Lab — an ensemble method that combines multiple trees to reduce overfitting. The third is an SVM with an RBF kernel from the SVM Lab — it finds the optimal decision boundary in high-dimensional feature space.
All three models used class_weight balanced to handle the stroke imbalance. Without this setting, models would simply predict no stroke for every patient and appear to have 95% accuracy while being completely useless in practice. Both precision and recall exceeded 0.3 for all models, meeting the project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TUNING &amp; VALIDATION (4:15 – 5:15)
Say: "I selected Random Forest for hyperparameter tuning because it achieved the strongest initial performance. I used GridSearchCV to test 18 combinations of three hyperparameters — number of trees, maximum tree depth, and features per split. A 5-fold Stratified Cross-Validation was used during the search and the winner was selected based on ROC-AUC score, which is more reliable than accuracy for imbalanced data.
Parameter tuning is important because hyperparameters control how a model learns. Wrong choices lead to either underfitting — where the model is too simple — or overfitting — where it memorises the training data.
I then validated the tuned model with 10-fold Stratified Cross-Validation. The model was trained and tested 10 times on different data subsets. The low standard deviation across folds confirmed the model generalises consistently. Validation matters because a single train-test split can give misleading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RESULTS (5:15 – 6:00)
Say: "Looking at the results, all three models meet the precision and recall requirement of 0.3 or above. The tuned Random Forest outperforms the others across every metric — the best accuracy, precision, recall, F1, and ROC-AUC.
From the feature importance analysis using the Embedded Method, age is by far the strongest predictor — stroke risk rises sharply after age 60. Average glucose level is second, followed by the engineered feature glucose_bmi_ratio in third place, which confirms that the feature engineering step was genuinely useful.
Hypertension and heart disease also appear in the top features, which is fully consistent with established medical knowledge about stroke risk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DEPLOYMENT (6:00 – 7:00)
Say: "The final step was deploying the model as a live web application using Streamlit. I saved the tuned Random Forest model, the StandardScaler, the Label Encoders, and the list of selected features as four pkl files using Joblib. These files were uploaded to a GitHub repository along with the app.py file and a requirements.txt listing all the libraries.
I then connected the repository to Streamlit Community Cloud, which automatically installed all dependencies and launched the app at a public URL.
The app works like this — the user enters patient details in the sidebar, clicks Predict, and the app runs the input through the same preprocessing pipeline used during training, then returns the stroke risk probability and highlights the key risk factors present for that patient."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CONCLUSION (7:00 – 8:00)
Say: "To summarize, this project covered a complete end-to-end machine learning pipeline applied to a real healthcare problem.
Starting from a raw, imbalanced dataset with missing values, I cleaned the data, engineered a new feature, explored the data with six types of visualizations, selected the top 8 features using the ANOVA F-test, trained and compared three algorithms from our course labs, tuned the best model with GridSearchCV, validated it with 10-fold cross-validation, and deployed it as a live web application on Streamlit Cloud.
All 9 project criteria are met. The final tuned Random Forest achieves precision and recall above 0.3, a strong ROC-AUC score, and consistent cross-validation results.
The most important lesson from this project is that real-world machine learning is not just about picking an algorithm — it is about the entire pipeline: understanding the data, cleaning it carefully, engineering meaningful features, choosing the right evaluation metrics for the problem, and making the model accessible through deployment.
Thank you for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00000"/>
          </a:solidFill>
          <a:ln>
            <a:solidFill>
              <a:srgbClr val="C00000"/>
            </a:solidFill>
          </a:ln>
        </p:spPr>
      </p:sp>
      <p:sp>
        <p:nvSpPr>
          <p:cNvPr id="3" name="Shape 1"/>
          <p:cNvSpPr/>
          <p:nvPr/>
        </p:nvSpPr>
        <p:spPr>
          <a:xfrm>
            <a:off x="1005840" y="640080"/>
            <a:ext cx="1554480" cy="1554480"/>
          </a:xfrm>
          <a:prstGeom prst="ellipse">
            <a:avLst/>
          </a:prstGeom>
          <a:solidFill>
            <a:schemeClr val="tx2">
              <a:lumMod val="40000"/>
              <a:lumOff val="60000"/>
            </a:schemeClr>
          </a:solidFill>
          <a:effectLst>
            <a:outerShdw blurRad="101600" dist="38100" dir="8100000" algn="bl" rotWithShape="0">
              <a:srgbClr val="000000">
                <a:alpha val="12000"/>
              </a:srgbClr>
            </a:outerShdw>
          </a:effectLst>
        </p:spPr>
      </p:sp>
      <p:pic>
        <p:nvPicPr>
          <p:cNvPr id="4" name="Image 0" descr="preencoded.png"/>
          <p:cNvPicPr>
            <a:picLocks noChangeAspect="1"/>
          </p:cNvPicPr>
          <p:nvPr/>
        </p:nvPicPr>
        <p:blipFill>
          <a:blip r:embed="rId1"/>
          <a:stretch>
            <a:fillRect/>
          </a:stretch>
        </p:blipFill>
        <p:spPr>
          <a:xfrm>
            <a:off x="1234440" y="868680"/>
            <a:ext cx="1097280" cy="1097280"/>
          </a:xfrm>
          <a:prstGeom prst="rect">
            <a:avLst/>
          </a:prstGeom>
        </p:spPr>
      </p:pic>
      <p:sp>
        <p:nvSpPr>
          <p:cNvPr id="5" name="Text 2"/>
          <p:cNvSpPr/>
          <p:nvPr/>
        </p:nvSpPr>
        <p:spPr>
          <a:xfrm>
            <a:off x="770129" y="2573881"/>
            <a:ext cx="8216039" cy="676114"/>
          </a:xfrm>
          <a:prstGeom prst="rect">
            <a:avLst/>
          </a:prstGeom>
          <a:noFill/>
        </p:spPr>
        <p:txBody>
          <a:bodyPr wrap="square" lIns="91440" tIns="45720" rIns="91440" bIns="45720" rtlCol="0" anchor="ctr"/>
          <a:lstStyle/>
          <a:p>
            <a:r>
              <a:rPr lang="en-US" sz="3600" b="1" kern="0" spc="300" dirty="0">
                <a:solidFill>
                  <a:srgbClr val="FFFFFF"/>
                </a:solidFill>
                <a:latin typeface="Calibri" panose="020F0502020204030204"/>
                <a:ea typeface="Calibri" panose="020F0502020204030204"/>
                <a:cs typeface="Calibri" panose="020F0502020204030204"/>
              </a:rPr>
              <a:t>STROKE PREDICTION </a:t>
            </a:r>
            <a:r>
              <a:rPr lang="en-US" sz="3600" b="1" kern="0" spc="300">
                <a:solidFill>
                  <a:srgbClr val="FFFFFF"/>
                </a:solidFill>
                <a:latin typeface="Calibri" panose="020F0502020204030204"/>
                <a:ea typeface="Calibri" panose="020F0502020204030204"/>
                <a:cs typeface="Calibri" panose="020F0502020204030204"/>
              </a:rPr>
              <a:t>USING </a:t>
            </a:r>
            <a:r>
              <a:rPr lang="en-US" sz="3600" b="1" kern="0" spc="300" dirty="0">
                <a:solidFill>
                  <a:srgbClr val="FFFFFF"/>
                </a:solidFill>
                <a:latin typeface="Calibri" panose="020F0502020204030204"/>
                <a:ea typeface="Calibri" panose="020F0502020204030204"/>
                <a:cs typeface="Calibri" panose="020F0502020204030204"/>
              </a:rPr>
              <a:t>MACHINE LEARNING</a:t>
            </a:r>
            <a:endParaRPr lang="en-US" sz="3600" b="1" kern="0" spc="300" dirty="0">
              <a:solidFill>
                <a:srgbClr val="FFFFFF"/>
              </a:solidFill>
              <a:ea typeface="Calibri" panose="020F0502020204030204"/>
              <a:cs typeface="Calibri" panose="020F0502020204030204"/>
            </a:endParaRPr>
          </a:p>
        </p:txBody>
      </p:sp>
      <p:sp>
        <p:nvSpPr>
          <p:cNvPr id="6" name="Text 3"/>
          <p:cNvSpPr/>
          <p:nvPr/>
        </p:nvSpPr>
        <p:spPr>
          <a:xfrm>
            <a:off x="960120" y="4064740"/>
            <a:ext cx="5029200" cy="411480"/>
          </a:xfrm>
          <a:prstGeom prst="rect">
            <a:avLst/>
          </a:prstGeom>
          <a:noFill/>
        </p:spPr>
        <p:txBody>
          <a:bodyPr wrap="square" lIns="91440" tIns="45720" rIns="91440" bIns="45720" rtlCol="0" anchor="ctr"/>
          <a:lstStyle/>
          <a:p>
            <a:r>
              <a:rPr lang="en-US" i="1">
                <a:solidFill>
                  <a:srgbClr val="BAE6FD"/>
                </a:solidFill>
                <a:ea typeface="Calibri" panose="020F0502020204030204"/>
                <a:cs typeface="Calibri" panose="020F0502020204030204"/>
              </a:rPr>
              <a:t>Hala Amr Awad ID:221001189</a:t>
            </a:r>
            <a:endParaRPr lang="en-US" sz="1800" i="1" dirty="0">
              <a:solidFill>
                <a:srgbClr val="BAE6FD"/>
              </a:solidFill>
              <a:ea typeface="Calibri" panose="020F0502020204030204"/>
              <a:cs typeface="Calibri" panose="020F0502020204030204"/>
            </a:endParaRPr>
          </a:p>
        </p:txBody>
      </p:sp>
      <p:sp>
        <p:nvSpPr>
          <p:cNvPr id="7" name="Shape 4"/>
          <p:cNvSpPr/>
          <p:nvPr/>
        </p:nvSpPr>
        <p:spPr>
          <a:xfrm>
            <a:off x="960120" y="3885054"/>
            <a:ext cx="4114800" cy="36576"/>
          </a:xfrm>
          <a:prstGeom prst="rect">
            <a:avLst/>
          </a:prstGeom>
          <a:solidFill>
            <a:schemeClr val="tx2">
              <a:lumMod val="40000"/>
              <a:lumOff val="60000"/>
            </a:schemeClr>
          </a:solid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F6FF"/>
        </a:solidFill>
        <a:effectLst/>
      </p:bgPr>
    </p:bg>
    <p:spTree>
      <p:nvGrpSpPr>
        <p:cNvPr id="1" name=""/>
        <p:cNvGrpSpPr/>
        <p:nvPr/>
      </p:nvGrpSpPr>
      <p:grpSpPr>
        <a:xfrm>
          <a:off x="0" y="0"/>
          <a:ext cx="0" cy="0"/>
          <a:chOff x="0" y="0"/>
          <a:chExt cx="0" cy="0"/>
        </a:xfrm>
      </p:grpSpPr>
      <p:sp>
        <p:nvSpPr>
          <p:cNvPr id="3" name="Text 1"/>
          <p:cNvSpPr/>
          <p:nvPr/>
        </p:nvSpPr>
        <p:spPr>
          <a:xfrm>
            <a:off x="365760" y="0"/>
            <a:ext cx="8229600" cy="822960"/>
          </a:xfrm>
          <a:prstGeom prst="rect">
            <a:avLst/>
          </a:prstGeom>
          <a:noFill/>
        </p:spPr>
        <p:txBody>
          <a:bodyPr wrap="square" lIns="91440" tIns="45720" rIns="91440" bIns="45720" rtlCol="0" anchor="ctr"/>
          <a:lstStyle/>
          <a:p>
            <a:pPr marL="0" indent="0">
              <a:buNone/>
            </a:pPr>
            <a:r>
              <a:rPr lang="en-US" sz="2400" b="1" dirty="0">
                <a:latin typeface="Calibri" panose="020F0502020204030204"/>
                <a:ea typeface="Calibri" panose="020F0502020204030204"/>
                <a:cs typeface="Calibri" panose="020F0502020204030204"/>
              </a:rPr>
              <a:t>Project Overview</a:t>
            </a:r>
            <a:endParaRPr lang="en-US" sz="2400">
              <a:latin typeface="Calibri" panose="020F0502020204030204"/>
              <a:ea typeface="Calibri" panose="020F0502020204030204"/>
              <a:cs typeface="Calibri" panose="020F0502020204030204"/>
            </a:endParaRPr>
          </a:p>
        </p:txBody>
      </p:sp>
      <p:pic>
        <p:nvPicPr>
          <p:cNvPr id="5" name="Image 0" descr="preencoded.png"/>
          <p:cNvPicPr>
            <a:picLocks noChangeAspect="1"/>
          </p:cNvPicPr>
          <p:nvPr/>
        </p:nvPicPr>
        <p:blipFill>
          <a:blip r:embed="rId1"/>
          <a:stretch>
            <a:fillRect/>
          </a:stretch>
        </p:blipFill>
        <p:spPr>
          <a:xfrm>
            <a:off x="492894" y="1219360"/>
            <a:ext cx="457200" cy="457200"/>
          </a:xfrm>
          <a:prstGeom prst="rect">
            <a:avLst/>
          </a:prstGeom>
        </p:spPr>
      </p:pic>
      <p:sp>
        <p:nvSpPr>
          <p:cNvPr id="6" name="Text 3"/>
          <p:cNvSpPr/>
          <p:nvPr/>
        </p:nvSpPr>
        <p:spPr>
          <a:xfrm>
            <a:off x="1097280" y="987552"/>
            <a:ext cx="7498080" cy="914400"/>
          </a:xfrm>
          <a:prstGeom prst="rect">
            <a:avLst/>
          </a:prstGeom>
          <a:noFill/>
        </p:spPr>
        <p:txBody>
          <a:bodyPr wrap="square" lIns="91440" tIns="45720" rIns="91440" bIns="45720" rtlCol="0" anchor="ctr"/>
          <a:lstStyle/>
          <a:p>
            <a:pPr marL="0" indent="0">
              <a:buNone/>
            </a:pPr>
            <a:r>
              <a:rPr lang="en-US" sz="1400" i="1">
                <a:latin typeface="Calibri" panose="020F0502020204030204"/>
                <a:ea typeface="Calibri" panose="020F0502020204030204"/>
                <a:cs typeface="Calibri" panose="020F0502020204030204"/>
              </a:rPr>
              <a:t>Can we accurately predict stroke risk from clinical &amp; demographic features and which factors </a:t>
            </a:r>
            <a:r>
              <a:rPr lang="en-US" sz="1400" i="1" dirty="0">
                <a:latin typeface="Calibri" panose="020F0502020204030204"/>
                <a:ea typeface="Calibri" panose="020F0502020204030204"/>
                <a:cs typeface="Calibri" panose="020F0502020204030204"/>
              </a:rPr>
              <a:t>matter most?</a:t>
            </a:r>
            <a:endParaRPr lang="en-US" sz="1400" dirty="0">
              <a:latin typeface="Calibri" panose="020F0502020204030204"/>
              <a:ea typeface="Calibri" panose="020F0502020204030204"/>
              <a:cs typeface="Calibri" panose="020F0502020204030204"/>
            </a:endParaRPr>
          </a:p>
        </p:txBody>
      </p:sp>
      <p:sp>
        <p:nvSpPr>
          <p:cNvPr id="7" name="Shape 4"/>
          <p:cNvSpPr/>
          <p:nvPr/>
        </p:nvSpPr>
        <p:spPr>
          <a:xfrm>
            <a:off x="365760" y="2103120"/>
            <a:ext cx="2606040" cy="1234440"/>
          </a:xfrm>
          <a:prstGeom prst="rect">
            <a:avLst/>
          </a:prstGeom>
          <a:solidFill>
            <a:srgbClr val="FFFFFF"/>
          </a:solidFill>
          <a:effectLst>
            <a:outerShdw blurRad="101600" dist="38100" dir="8100000" algn="bl" rotWithShape="0">
              <a:srgbClr val="000000">
                <a:alpha val="12000"/>
              </a:srgbClr>
            </a:outerShdw>
          </a:effectLst>
        </p:spPr>
      </p:sp>
      <p:sp>
        <p:nvSpPr>
          <p:cNvPr id="8" name="Shape 5"/>
          <p:cNvSpPr/>
          <p:nvPr/>
        </p:nvSpPr>
        <p:spPr>
          <a:xfrm>
            <a:off x="365760" y="2103120"/>
            <a:ext cx="2606040" cy="73152"/>
          </a:xfrm>
          <a:prstGeom prst="rect">
            <a:avLst/>
          </a:prstGeom>
          <a:solidFill>
            <a:srgbClr val="C00000"/>
          </a:solidFill>
        </p:spPr>
      </p:sp>
      <p:sp>
        <p:nvSpPr>
          <p:cNvPr id="9" name="Text 6"/>
          <p:cNvSpPr/>
          <p:nvPr/>
        </p:nvSpPr>
        <p:spPr>
          <a:xfrm>
            <a:off x="365760" y="2176272"/>
            <a:ext cx="2606040" cy="640080"/>
          </a:xfrm>
          <a:prstGeom prst="rect">
            <a:avLst/>
          </a:prstGeom>
          <a:noFill/>
        </p:spPr>
        <p:txBody>
          <a:bodyPr wrap="square" rtlCol="0" anchor="ctr"/>
          <a:lstStyle/>
          <a:p>
            <a:pPr marL="0" indent="0" algn="ctr">
              <a:buNone/>
            </a:pPr>
            <a:r>
              <a:rPr lang="en-US" sz="3200" b="1" dirty="0">
                <a:solidFill>
                  <a:srgbClr val="1B2A4A"/>
                </a:solidFill>
                <a:latin typeface="Calibri" panose="020F0502020204030204" pitchFamily="34" charset="0"/>
                <a:ea typeface="Calibri" panose="020F0502020204030204" pitchFamily="34" charset="-122"/>
                <a:cs typeface="Calibri" panose="020F0502020204030204" pitchFamily="34" charset="-120"/>
              </a:rPr>
              <a:t>50,000</a:t>
            </a:r>
            <a:endParaRPr lang="en-US" sz="3200" dirty="0"/>
          </a:p>
        </p:txBody>
      </p:sp>
      <p:sp>
        <p:nvSpPr>
          <p:cNvPr id="10" name="Text 7"/>
          <p:cNvSpPr/>
          <p:nvPr/>
        </p:nvSpPr>
        <p:spPr>
          <a:xfrm>
            <a:off x="365760" y="2788920"/>
            <a:ext cx="2606040" cy="457200"/>
          </a:xfrm>
          <a:prstGeom prst="rect">
            <a:avLst/>
          </a:prstGeom>
          <a:noFill/>
        </p:spPr>
        <p:txBody>
          <a:bodyPr wrap="square" lIns="91440" tIns="45720" rIns="91440" bIns="45720" rtlCol="0" anchor="ctr"/>
          <a:lstStyle/>
          <a:p>
            <a:pPr algn="ctr"/>
            <a:r>
              <a:rPr lang="en-US" sz="1300" dirty="0">
                <a:solidFill>
                  <a:srgbClr val="64748B"/>
                </a:solidFill>
                <a:latin typeface="Calibri" panose="020F0502020204030204"/>
                <a:ea typeface="Calibri" panose="020F0502020204030204"/>
                <a:cs typeface="Calibri" panose="020F0502020204030204"/>
              </a:rPr>
              <a:t>Patient Records in </a:t>
            </a:r>
            <a:r>
              <a:rPr lang="en-US" sz="1300">
                <a:solidFill>
                  <a:srgbClr val="64748B"/>
                </a:solidFill>
                <a:latin typeface="Calibri" panose="020F0502020204030204"/>
                <a:ea typeface="Calibri" panose="020F0502020204030204"/>
                <a:cs typeface="Calibri" panose="020F0502020204030204"/>
              </a:rPr>
              <a:t>rows</a:t>
            </a:r>
            <a:endParaRPr lang="en-US" sz="1300" dirty="0"/>
          </a:p>
        </p:txBody>
      </p:sp>
      <p:sp>
        <p:nvSpPr>
          <p:cNvPr id="11" name="Shape 8"/>
          <p:cNvSpPr/>
          <p:nvPr/>
        </p:nvSpPr>
        <p:spPr>
          <a:xfrm>
            <a:off x="3200400" y="2103120"/>
            <a:ext cx="2606040" cy="1234440"/>
          </a:xfrm>
          <a:prstGeom prst="rect">
            <a:avLst/>
          </a:prstGeom>
          <a:solidFill>
            <a:srgbClr val="FFFFFF"/>
          </a:solidFill>
          <a:effectLst>
            <a:outerShdw blurRad="101600" dist="38100" dir="8100000" algn="bl" rotWithShape="0">
              <a:srgbClr val="000000">
                <a:alpha val="12000"/>
              </a:srgbClr>
            </a:outerShdw>
          </a:effectLst>
        </p:spPr>
      </p:sp>
      <p:sp>
        <p:nvSpPr>
          <p:cNvPr id="12" name="Shape 9"/>
          <p:cNvSpPr/>
          <p:nvPr/>
        </p:nvSpPr>
        <p:spPr>
          <a:xfrm>
            <a:off x="3200400" y="2103120"/>
            <a:ext cx="2606040" cy="73152"/>
          </a:xfrm>
          <a:prstGeom prst="rect">
            <a:avLst/>
          </a:prstGeom>
          <a:solidFill>
            <a:srgbClr val="C00000"/>
          </a:solidFill>
          <a:ln>
            <a:solidFill>
              <a:srgbClr val="C00000"/>
            </a:solidFill>
          </a:ln>
        </p:spPr>
      </p:sp>
      <p:sp>
        <p:nvSpPr>
          <p:cNvPr id="13" name="Text 10"/>
          <p:cNvSpPr/>
          <p:nvPr/>
        </p:nvSpPr>
        <p:spPr>
          <a:xfrm>
            <a:off x="3200400" y="2176272"/>
            <a:ext cx="2606040" cy="640080"/>
          </a:xfrm>
          <a:prstGeom prst="rect">
            <a:avLst/>
          </a:prstGeom>
          <a:noFill/>
        </p:spPr>
        <p:txBody>
          <a:bodyPr wrap="square" rtlCol="0" anchor="ctr"/>
          <a:lstStyle/>
          <a:p>
            <a:pPr marL="0" indent="0" algn="ctr">
              <a:buNone/>
            </a:pPr>
            <a:r>
              <a:rPr lang="en-US" sz="3200" b="1" dirty="0">
                <a:solidFill>
                  <a:srgbClr val="1B2A4A"/>
                </a:solidFill>
                <a:latin typeface="Calibri" panose="020F0502020204030204" pitchFamily="34" charset="0"/>
                <a:ea typeface="Calibri" panose="020F0502020204030204" pitchFamily="34" charset="-122"/>
                <a:cs typeface="Calibri" panose="020F0502020204030204" pitchFamily="34" charset="-120"/>
              </a:rPr>
              <a:t>12</a:t>
            </a:r>
            <a:endParaRPr lang="en-US" sz="3200" dirty="0"/>
          </a:p>
        </p:txBody>
      </p:sp>
      <p:sp>
        <p:nvSpPr>
          <p:cNvPr id="14" name="Text 11"/>
          <p:cNvSpPr/>
          <p:nvPr/>
        </p:nvSpPr>
        <p:spPr>
          <a:xfrm>
            <a:off x="3200400" y="2788920"/>
            <a:ext cx="2606040" cy="457200"/>
          </a:xfrm>
          <a:prstGeom prst="rect">
            <a:avLst/>
          </a:prstGeom>
          <a:noFill/>
        </p:spPr>
        <p:txBody>
          <a:bodyPr wrap="square" lIns="91440" tIns="45720" rIns="91440" bIns="45720" rtlCol="0" anchor="ctr"/>
          <a:lstStyle/>
          <a:p>
            <a:pPr algn="ctr"/>
            <a:r>
              <a:rPr lang="en-US" sz="1300">
                <a:solidFill>
                  <a:srgbClr val="64748B"/>
                </a:solidFill>
                <a:latin typeface="Calibri" panose="020F0502020204030204"/>
                <a:ea typeface="Calibri" panose="020F0502020204030204"/>
                <a:cs typeface="Calibri" panose="020F0502020204030204"/>
              </a:rPr>
              <a:t>Features Columns</a:t>
            </a:r>
            <a:endParaRPr lang="en-US" sz="1300" dirty="0"/>
          </a:p>
        </p:txBody>
      </p:sp>
      <p:sp>
        <p:nvSpPr>
          <p:cNvPr id="15" name="Shape 12"/>
          <p:cNvSpPr/>
          <p:nvPr/>
        </p:nvSpPr>
        <p:spPr>
          <a:xfrm>
            <a:off x="6035040" y="2103120"/>
            <a:ext cx="2606040" cy="1234440"/>
          </a:xfrm>
          <a:prstGeom prst="rect">
            <a:avLst/>
          </a:prstGeom>
          <a:solidFill>
            <a:srgbClr val="FFFFFF"/>
          </a:solidFill>
          <a:effectLst>
            <a:outerShdw blurRad="101600" dist="38100" dir="8100000" algn="bl" rotWithShape="0">
              <a:srgbClr val="000000">
                <a:alpha val="12000"/>
              </a:srgbClr>
            </a:outerShdw>
          </a:effectLst>
        </p:spPr>
      </p:sp>
      <p:sp>
        <p:nvSpPr>
          <p:cNvPr id="16" name="Shape 13"/>
          <p:cNvSpPr/>
          <p:nvPr/>
        </p:nvSpPr>
        <p:spPr>
          <a:xfrm>
            <a:off x="6035040" y="2103120"/>
            <a:ext cx="2606040" cy="73152"/>
          </a:xfrm>
          <a:prstGeom prst="rect">
            <a:avLst/>
          </a:prstGeom>
          <a:solidFill>
            <a:srgbClr val="C00000"/>
          </a:solidFill>
        </p:spPr>
      </p:sp>
      <p:sp>
        <p:nvSpPr>
          <p:cNvPr id="17" name="Text 14"/>
          <p:cNvSpPr/>
          <p:nvPr/>
        </p:nvSpPr>
        <p:spPr>
          <a:xfrm>
            <a:off x="6035040" y="2176272"/>
            <a:ext cx="2606040" cy="640080"/>
          </a:xfrm>
          <a:prstGeom prst="rect">
            <a:avLst/>
          </a:prstGeom>
          <a:noFill/>
        </p:spPr>
        <p:txBody>
          <a:bodyPr wrap="square" rtlCol="0" anchor="ctr"/>
          <a:lstStyle/>
          <a:p>
            <a:pPr marL="0" indent="0" algn="ctr">
              <a:buNone/>
            </a:pPr>
            <a:r>
              <a:rPr lang="en-US" sz="3200" b="1" dirty="0">
                <a:solidFill>
                  <a:srgbClr val="1B2A4A"/>
                </a:solidFill>
                <a:latin typeface="Calibri" panose="020F0502020204030204" pitchFamily="34" charset="0"/>
                <a:ea typeface="Calibri" panose="020F0502020204030204" pitchFamily="34" charset="-122"/>
                <a:cs typeface="Calibri" panose="020F0502020204030204" pitchFamily="34" charset="-120"/>
              </a:rPr>
              <a:t>4.87%</a:t>
            </a:r>
            <a:endParaRPr lang="en-US" sz="3200" dirty="0"/>
          </a:p>
        </p:txBody>
      </p:sp>
      <p:sp>
        <p:nvSpPr>
          <p:cNvPr id="18" name="Text 15"/>
          <p:cNvSpPr/>
          <p:nvPr/>
        </p:nvSpPr>
        <p:spPr>
          <a:xfrm>
            <a:off x="6035040" y="2788920"/>
            <a:ext cx="2606040" cy="457200"/>
          </a:xfrm>
          <a:prstGeom prst="rect">
            <a:avLst/>
          </a:prstGeom>
          <a:noFill/>
        </p:spPr>
        <p:txBody>
          <a:bodyPr wrap="square" rtlCol="0" anchor="ctr"/>
          <a:lstStyle/>
          <a:p>
            <a:pPr marL="0" indent="0" algn="ctr">
              <a:buNone/>
            </a:pPr>
            <a:r>
              <a:rPr lang="en-US" sz="1300" dirty="0">
                <a:solidFill>
                  <a:srgbClr val="64748B"/>
                </a:solidFill>
                <a:latin typeface="Calibri" panose="020F0502020204030204" pitchFamily="34" charset="0"/>
                <a:ea typeface="Calibri" panose="020F0502020204030204" pitchFamily="34" charset="-122"/>
                <a:cs typeface="Calibri" panose="020F0502020204030204" pitchFamily="34" charset="-120"/>
              </a:rPr>
              <a:t>Stroke Positive Rate</a:t>
            </a:r>
            <a:endParaRPr lang="en-US" sz="1300" dirty="0"/>
          </a:p>
        </p:txBody>
      </p:sp>
      <p:sp>
        <p:nvSpPr>
          <p:cNvPr id="19" name="Text 16"/>
          <p:cNvSpPr/>
          <p:nvPr/>
        </p:nvSpPr>
        <p:spPr>
          <a:xfrm>
            <a:off x="365760" y="3474720"/>
            <a:ext cx="8412480" cy="320040"/>
          </a:xfrm>
          <a:prstGeom prst="rect">
            <a:avLst/>
          </a:prstGeom>
          <a:noFill/>
        </p:spPr>
        <p:txBody>
          <a:bodyPr wrap="square" rtlCol="0" anchor="ctr"/>
          <a:lstStyle/>
          <a:p>
            <a:pPr marL="0" indent="0">
              <a:buNone/>
            </a:pPr>
            <a:r>
              <a:rPr lang="en-US" sz="1400" b="1" dirty="0">
                <a:solidFill>
                  <a:srgbClr val="1B2A4A"/>
                </a:solidFill>
                <a:latin typeface="Calibri" panose="020F0502020204030204" pitchFamily="34" charset="0"/>
                <a:ea typeface="Calibri" panose="020F0502020204030204" pitchFamily="34" charset="-122"/>
                <a:cs typeface="Calibri" panose="020F0502020204030204" pitchFamily="34" charset="-120"/>
              </a:rPr>
              <a:t>Dataset Features</a:t>
            </a:r>
            <a:endParaRPr lang="en-US" sz="1400" dirty="0"/>
          </a:p>
        </p:txBody>
      </p:sp>
      <p:sp>
        <p:nvSpPr>
          <p:cNvPr id="20" name="Shape 17"/>
          <p:cNvSpPr/>
          <p:nvPr/>
        </p:nvSpPr>
        <p:spPr>
          <a:xfrm>
            <a:off x="365760" y="3858768"/>
            <a:ext cx="128016" cy="128016"/>
          </a:xfrm>
          <a:prstGeom prst="ellipse">
            <a:avLst/>
          </a:prstGeom>
          <a:solidFill>
            <a:srgbClr val="C00000"/>
          </a:solidFill>
        </p:spPr>
      </p:sp>
      <p:sp>
        <p:nvSpPr>
          <p:cNvPr id="21" name="Text 18"/>
          <p:cNvSpPr/>
          <p:nvPr/>
        </p:nvSpPr>
        <p:spPr>
          <a:xfrm>
            <a:off x="566928" y="3822192"/>
            <a:ext cx="3931920" cy="274320"/>
          </a:xfrm>
          <a:prstGeom prst="rect">
            <a:avLst/>
          </a:prstGeom>
          <a:noFill/>
        </p:spPr>
        <p:txBody>
          <a:bodyPr wrap="square" rtlCol="0" anchor="ctr"/>
          <a:lstStyle/>
          <a:p>
            <a:pPr marL="0" indent="0">
              <a:buNone/>
            </a:pPr>
            <a:r>
              <a:rPr lang="en-US" sz="1200" dirty="0">
                <a:solidFill>
                  <a:srgbClr val="64748B"/>
                </a:solidFill>
                <a:latin typeface="Calibri" panose="020F0502020204030204" pitchFamily="34" charset="0"/>
                <a:ea typeface="Calibri" panose="020F0502020204030204" pitchFamily="34" charset="-122"/>
                <a:cs typeface="Calibri" panose="020F0502020204030204" pitchFamily="34" charset="-120"/>
              </a:rPr>
              <a:t>Age, Gender, BMI</a:t>
            </a:r>
            <a:endParaRPr lang="en-US" sz="1200" dirty="0"/>
          </a:p>
        </p:txBody>
      </p:sp>
      <p:sp>
        <p:nvSpPr>
          <p:cNvPr id="22" name="Shape 19"/>
          <p:cNvSpPr/>
          <p:nvPr/>
        </p:nvSpPr>
        <p:spPr>
          <a:xfrm>
            <a:off x="365760" y="4160520"/>
            <a:ext cx="128016" cy="128016"/>
          </a:xfrm>
          <a:prstGeom prst="ellipse">
            <a:avLst/>
          </a:prstGeom>
          <a:solidFill>
            <a:srgbClr val="C00000"/>
          </a:solidFill>
        </p:spPr>
      </p:sp>
      <p:sp>
        <p:nvSpPr>
          <p:cNvPr id="23" name="Text 20"/>
          <p:cNvSpPr/>
          <p:nvPr/>
        </p:nvSpPr>
        <p:spPr>
          <a:xfrm>
            <a:off x="566928" y="4123944"/>
            <a:ext cx="3931920" cy="274320"/>
          </a:xfrm>
          <a:prstGeom prst="rect">
            <a:avLst/>
          </a:prstGeom>
          <a:noFill/>
        </p:spPr>
        <p:txBody>
          <a:bodyPr wrap="square" rtlCol="0" anchor="ctr"/>
          <a:lstStyle/>
          <a:p>
            <a:pPr marL="0" indent="0">
              <a:buNone/>
            </a:pPr>
            <a:r>
              <a:rPr lang="en-US" sz="1200" dirty="0">
                <a:solidFill>
                  <a:srgbClr val="64748B"/>
                </a:solidFill>
                <a:latin typeface="Calibri" panose="020F0502020204030204" pitchFamily="34" charset="0"/>
                <a:ea typeface="Calibri" panose="020F0502020204030204" pitchFamily="34" charset="-122"/>
                <a:cs typeface="Calibri" panose="020F0502020204030204" pitchFamily="34" charset="-120"/>
              </a:rPr>
              <a:t>Average Glucose Level</a:t>
            </a:r>
            <a:endParaRPr lang="en-US" sz="1200" dirty="0"/>
          </a:p>
        </p:txBody>
      </p:sp>
      <p:sp>
        <p:nvSpPr>
          <p:cNvPr id="24" name="Shape 21"/>
          <p:cNvSpPr/>
          <p:nvPr/>
        </p:nvSpPr>
        <p:spPr>
          <a:xfrm>
            <a:off x="365760" y="4462272"/>
            <a:ext cx="128016" cy="128016"/>
          </a:xfrm>
          <a:prstGeom prst="ellipse">
            <a:avLst/>
          </a:prstGeom>
          <a:solidFill>
            <a:srgbClr val="C00000"/>
          </a:solidFill>
        </p:spPr>
      </p:sp>
      <p:sp>
        <p:nvSpPr>
          <p:cNvPr id="25" name="Text 22"/>
          <p:cNvSpPr/>
          <p:nvPr/>
        </p:nvSpPr>
        <p:spPr>
          <a:xfrm>
            <a:off x="566928" y="4425696"/>
            <a:ext cx="3931920" cy="274320"/>
          </a:xfrm>
          <a:prstGeom prst="rect">
            <a:avLst/>
          </a:prstGeom>
          <a:noFill/>
        </p:spPr>
        <p:txBody>
          <a:bodyPr wrap="square" rtlCol="0" anchor="ctr"/>
          <a:lstStyle/>
          <a:p>
            <a:pPr marL="0" indent="0">
              <a:buNone/>
            </a:pPr>
            <a:r>
              <a:rPr lang="en-US" sz="1200" dirty="0">
                <a:solidFill>
                  <a:srgbClr val="64748B"/>
                </a:solidFill>
                <a:latin typeface="Calibri" panose="020F0502020204030204" pitchFamily="34" charset="0"/>
                <a:ea typeface="Calibri" panose="020F0502020204030204" pitchFamily="34" charset="-122"/>
                <a:cs typeface="Calibri" panose="020F0502020204030204" pitchFamily="34" charset="-120"/>
              </a:rPr>
              <a:t>Hypertension &amp; Heart Disease</a:t>
            </a:r>
            <a:endParaRPr lang="en-US" sz="1200" dirty="0"/>
          </a:p>
        </p:txBody>
      </p:sp>
      <p:sp>
        <p:nvSpPr>
          <p:cNvPr id="26" name="Shape 23"/>
          <p:cNvSpPr/>
          <p:nvPr/>
        </p:nvSpPr>
        <p:spPr>
          <a:xfrm>
            <a:off x="4663440" y="3858768"/>
            <a:ext cx="128016" cy="128016"/>
          </a:xfrm>
          <a:prstGeom prst="ellipse">
            <a:avLst/>
          </a:prstGeom>
          <a:solidFill>
            <a:srgbClr val="C00000"/>
          </a:solidFill>
        </p:spPr>
      </p:sp>
      <p:sp>
        <p:nvSpPr>
          <p:cNvPr id="27" name="Text 24"/>
          <p:cNvSpPr/>
          <p:nvPr/>
        </p:nvSpPr>
        <p:spPr>
          <a:xfrm>
            <a:off x="4864608" y="3822192"/>
            <a:ext cx="3931920" cy="274320"/>
          </a:xfrm>
          <a:prstGeom prst="rect">
            <a:avLst/>
          </a:prstGeom>
          <a:noFill/>
        </p:spPr>
        <p:txBody>
          <a:bodyPr wrap="square" rtlCol="0" anchor="ctr"/>
          <a:lstStyle/>
          <a:p>
            <a:pPr marL="0" indent="0">
              <a:buNone/>
            </a:pPr>
            <a:r>
              <a:rPr lang="en-US" sz="1200" dirty="0">
                <a:solidFill>
                  <a:srgbClr val="64748B"/>
                </a:solidFill>
                <a:latin typeface="Calibri" panose="020F0502020204030204" pitchFamily="34" charset="0"/>
                <a:ea typeface="Calibri" panose="020F0502020204030204" pitchFamily="34" charset="-122"/>
                <a:cs typeface="Calibri" panose="020F0502020204030204" pitchFamily="34" charset="-120"/>
              </a:rPr>
              <a:t>Work Type &amp; Residence Type</a:t>
            </a:r>
            <a:endParaRPr lang="en-US" sz="1200" dirty="0"/>
          </a:p>
        </p:txBody>
      </p:sp>
      <p:sp>
        <p:nvSpPr>
          <p:cNvPr id="28" name="Shape 25"/>
          <p:cNvSpPr/>
          <p:nvPr/>
        </p:nvSpPr>
        <p:spPr>
          <a:xfrm>
            <a:off x="4663440" y="4160520"/>
            <a:ext cx="128016" cy="128016"/>
          </a:xfrm>
          <a:prstGeom prst="ellipse">
            <a:avLst/>
          </a:prstGeom>
          <a:solidFill>
            <a:srgbClr val="C00000"/>
          </a:solidFill>
        </p:spPr>
      </p:sp>
      <p:sp>
        <p:nvSpPr>
          <p:cNvPr id="29" name="Text 26"/>
          <p:cNvSpPr/>
          <p:nvPr/>
        </p:nvSpPr>
        <p:spPr>
          <a:xfrm>
            <a:off x="4864608" y="4123944"/>
            <a:ext cx="3931920" cy="274320"/>
          </a:xfrm>
          <a:prstGeom prst="rect">
            <a:avLst/>
          </a:prstGeom>
          <a:noFill/>
        </p:spPr>
        <p:txBody>
          <a:bodyPr wrap="square" rtlCol="0" anchor="ctr"/>
          <a:lstStyle/>
          <a:p>
            <a:pPr marL="0" indent="0">
              <a:buNone/>
            </a:pPr>
            <a:r>
              <a:rPr lang="en-US" sz="1200" dirty="0">
                <a:solidFill>
                  <a:srgbClr val="64748B"/>
                </a:solidFill>
                <a:latin typeface="Calibri" panose="020F0502020204030204" pitchFamily="34" charset="0"/>
                <a:ea typeface="Calibri" panose="020F0502020204030204" pitchFamily="34" charset="-122"/>
                <a:cs typeface="Calibri" panose="020F0502020204030204" pitchFamily="34" charset="-120"/>
              </a:rPr>
              <a:t>Smoking Status, Marital Status</a:t>
            </a:r>
            <a:endParaRPr lang="en-US" sz="1200" dirty="0"/>
          </a:p>
        </p:txBody>
      </p:sp>
      <p:sp>
        <p:nvSpPr>
          <p:cNvPr id="30" name="Shape 27"/>
          <p:cNvSpPr/>
          <p:nvPr/>
        </p:nvSpPr>
        <p:spPr>
          <a:xfrm>
            <a:off x="4663440" y="4462272"/>
            <a:ext cx="128016" cy="128016"/>
          </a:xfrm>
          <a:prstGeom prst="ellipse">
            <a:avLst/>
          </a:prstGeom>
          <a:solidFill>
            <a:srgbClr val="C00000"/>
          </a:solidFill>
        </p:spPr>
      </p:sp>
      <p:sp>
        <p:nvSpPr>
          <p:cNvPr id="31" name="Text 28"/>
          <p:cNvSpPr/>
          <p:nvPr/>
        </p:nvSpPr>
        <p:spPr>
          <a:xfrm>
            <a:off x="4864608" y="4425696"/>
            <a:ext cx="3931920" cy="274320"/>
          </a:xfrm>
          <a:prstGeom prst="rect">
            <a:avLst/>
          </a:prstGeom>
          <a:noFill/>
        </p:spPr>
        <p:txBody>
          <a:bodyPr wrap="square" rtlCol="0" anchor="ctr"/>
          <a:lstStyle/>
          <a:p>
            <a:pPr marL="0" indent="0">
              <a:buNone/>
            </a:pPr>
            <a:r>
              <a:rPr lang="en-US" sz="1200" dirty="0">
                <a:solidFill>
                  <a:srgbClr val="64748B"/>
                </a:solidFill>
                <a:latin typeface="Calibri" panose="020F0502020204030204" pitchFamily="34" charset="0"/>
                <a:ea typeface="Calibri" panose="020F0502020204030204" pitchFamily="34" charset="-122"/>
                <a:cs typeface="Calibri" panose="020F0502020204030204" pitchFamily="34" charset="-120"/>
              </a:rPr>
              <a:t>Target: Stroke (0 = No, 1 = Yes)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6FF"/>
        </a:solidFill>
        <a:effectLst/>
      </p:bgPr>
    </p:bg>
    <p:spTree>
      <p:nvGrpSpPr>
        <p:cNvPr id="1" name=""/>
        <p:cNvGrpSpPr/>
        <p:nvPr/>
      </p:nvGrpSpPr>
      <p:grpSpPr>
        <a:xfrm>
          <a:off x="0" y="0"/>
          <a:ext cx="0" cy="0"/>
          <a:chOff x="0" y="0"/>
          <a:chExt cx="0" cy="0"/>
        </a:xfrm>
      </p:grpSpPr>
      <p:sp>
        <p:nvSpPr>
          <p:cNvPr id="3" name="Text 1"/>
          <p:cNvSpPr/>
          <p:nvPr/>
        </p:nvSpPr>
        <p:spPr>
          <a:xfrm>
            <a:off x="365760" y="0"/>
            <a:ext cx="8229600" cy="822960"/>
          </a:xfrm>
          <a:prstGeom prst="rect">
            <a:avLst/>
          </a:prstGeom>
          <a:noFill/>
        </p:spPr>
        <p:txBody>
          <a:bodyPr wrap="square" lIns="91440" tIns="45720" rIns="91440" bIns="45720" rtlCol="0" anchor="ctr"/>
          <a:lstStyle/>
          <a:p>
            <a:pPr marL="0" indent="0">
              <a:buNone/>
            </a:pPr>
            <a:r>
              <a:rPr lang="en-US" sz="2400" b="1" dirty="0">
                <a:latin typeface="Calibri" panose="020F0502020204030204"/>
                <a:ea typeface="Calibri" panose="020F0502020204030204"/>
                <a:cs typeface="Calibri" panose="020F0502020204030204"/>
              </a:rPr>
              <a:t>Data Cleaning &amp; Feature Engineering</a:t>
            </a:r>
            <a:endParaRPr lang="en-US" sz="2400">
              <a:latin typeface="Calibri" panose="020F0502020204030204"/>
              <a:ea typeface="Calibri" panose="020F0502020204030204"/>
              <a:cs typeface="Calibri" panose="020F0502020204030204"/>
            </a:endParaRPr>
          </a:p>
        </p:txBody>
      </p:sp>
      <p:sp>
        <p:nvSpPr>
          <p:cNvPr id="4" name="Shape 2"/>
          <p:cNvSpPr/>
          <p:nvPr/>
        </p:nvSpPr>
        <p:spPr>
          <a:xfrm>
            <a:off x="365760" y="960120"/>
            <a:ext cx="2606040" cy="1554480"/>
          </a:xfrm>
          <a:prstGeom prst="rect">
            <a:avLst/>
          </a:prstGeom>
          <a:solidFill>
            <a:srgbClr val="FFFFFF"/>
          </a:solidFill>
          <a:effectLst>
            <a:outerShdw blurRad="101600" dist="38100" dir="8100000" algn="bl" rotWithShape="0">
              <a:srgbClr val="000000">
                <a:alpha val="12000"/>
              </a:srgbClr>
            </a:outerShdw>
          </a:effectLst>
        </p:spPr>
      </p:sp>
      <p:sp>
        <p:nvSpPr>
          <p:cNvPr id="5" name="Shape 3"/>
          <p:cNvSpPr/>
          <p:nvPr/>
        </p:nvSpPr>
        <p:spPr>
          <a:xfrm>
            <a:off x="365760" y="960120"/>
            <a:ext cx="2606040" cy="64008"/>
          </a:xfrm>
          <a:prstGeom prst="rect">
            <a:avLst/>
          </a:prstGeom>
          <a:solidFill>
            <a:srgbClr val="C00000"/>
          </a:solidFill>
        </p:spPr>
      </p:sp>
      <p:sp>
        <p:nvSpPr>
          <p:cNvPr id="7" name="Text 4"/>
          <p:cNvSpPr/>
          <p:nvPr/>
        </p:nvSpPr>
        <p:spPr>
          <a:xfrm>
            <a:off x="932688" y="1078992"/>
            <a:ext cx="1965960" cy="457200"/>
          </a:xfrm>
          <a:prstGeom prst="rect">
            <a:avLst/>
          </a:prstGeom>
          <a:noFill/>
        </p:spPr>
        <p:txBody>
          <a:bodyPr wrap="square" rtlCol="0" anchor="ctr"/>
          <a:lstStyle/>
          <a:p>
            <a:pPr marL="0" indent="0">
              <a:buNone/>
            </a:pPr>
            <a:r>
              <a:rPr lang="en-US" sz="1200" b="1" dirty="0">
                <a:solidFill>
                  <a:srgbClr val="1B2A4A"/>
                </a:solidFill>
                <a:latin typeface="Calibri" panose="020F0502020204030204" pitchFamily="34" charset="0"/>
                <a:ea typeface="Calibri" panose="020F0502020204030204" pitchFamily="34" charset="-122"/>
                <a:cs typeface="Calibri" panose="020F0502020204030204" pitchFamily="34" charset="-120"/>
              </a:rPr>
              <a:t>Dropped 'id' Column</a:t>
            </a:r>
            <a:endParaRPr lang="en-US" sz="1200" dirty="0"/>
          </a:p>
        </p:txBody>
      </p:sp>
      <p:sp>
        <p:nvSpPr>
          <p:cNvPr id="8" name="Text 5"/>
          <p:cNvSpPr/>
          <p:nvPr/>
        </p:nvSpPr>
        <p:spPr>
          <a:xfrm>
            <a:off x="475488" y="1572768"/>
            <a:ext cx="2423160" cy="777240"/>
          </a:xfrm>
          <a:prstGeom prst="rect">
            <a:avLst/>
          </a:prstGeom>
          <a:noFill/>
        </p:spPr>
        <p:txBody>
          <a:bodyPr wrap="square" lIns="91440" tIns="45720" rIns="91440" bIns="45720" rtlCol="0" anchor="ctr"/>
          <a:lstStyle/>
          <a:p>
            <a:pPr marL="0" indent="0">
              <a:buNone/>
            </a:pPr>
            <a:r>
              <a:rPr lang="en-US" sz="1100">
                <a:solidFill>
                  <a:srgbClr val="64748B"/>
                </a:solidFill>
                <a:latin typeface="Calibri" panose="020F0502020204030204"/>
                <a:ea typeface="Calibri" panose="020F0502020204030204"/>
                <a:cs typeface="Calibri" panose="020F0502020204030204"/>
              </a:rPr>
              <a:t>Patient ID has no predictive value </a:t>
            </a:r>
            <a:endParaRPr lang="en-US" sz="1100">
              <a:solidFill>
                <a:srgbClr val="64748B"/>
              </a:solidFill>
              <a:latin typeface="Calibri" panose="020F0502020204030204"/>
              <a:ea typeface="Calibri" panose="020F0502020204030204"/>
              <a:cs typeface="Calibri" panose="020F0502020204030204"/>
            </a:endParaRPr>
          </a:p>
        </p:txBody>
      </p:sp>
      <p:sp>
        <p:nvSpPr>
          <p:cNvPr id="9" name="Shape 6"/>
          <p:cNvSpPr/>
          <p:nvPr/>
        </p:nvSpPr>
        <p:spPr>
          <a:xfrm>
            <a:off x="3200400" y="960120"/>
            <a:ext cx="2606040" cy="1554480"/>
          </a:xfrm>
          <a:prstGeom prst="rect">
            <a:avLst/>
          </a:prstGeom>
          <a:solidFill>
            <a:srgbClr val="FFFFFF"/>
          </a:solidFill>
          <a:effectLst>
            <a:outerShdw blurRad="101600" dist="38100" dir="8100000" algn="bl" rotWithShape="0">
              <a:srgbClr val="000000">
                <a:alpha val="12000"/>
              </a:srgbClr>
            </a:outerShdw>
          </a:effectLst>
        </p:spPr>
      </p:sp>
      <p:sp>
        <p:nvSpPr>
          <p:cNvPr id="10" name="Shape 7"/>
          <p:cNvSpPr/>
          <p:nvPr/>
        </p:nvSpPr>
        <p:spPr>
          <a:xfrm>
            <a:off x="3200400" y="960120"/>
            <a:ext cx="2606040" cy="64008"/>
          </a:xfrm>
          <a:prstGeom prst="rect">
            <a:avLst/>
          </a:prstGeom>
          <a:solidFill>
            <a:srgbClr val="C00000"/>
          </a:solidFill>
        </p:spPr>
      </p:sp>
      <p:sp>
        <p:nvSpPr>
          <p:cNvPr id="12" name="Text 8"/>
          <p:cNvSpPr/>
          <p:nvPr/>
        </p:nvSpPr>
        <p:spPr>
          <a:xfrm>
            <a:off x="3837512" y="1099045"/>
            <a:ext cx="1965960" cy="457200"/>
          </a:xfrm>
          <a:prstGeom prst="rect">
            <a:avLst/>
          </a:prstGeom>
          <a:noFill/>
        </p:spPr>
        <p:txBody>
          <a:bodyPr wrap="square" lIns="91440" tIns="45720" rIns="91440" bIns="45720" rtlCol="0" anchor="ctr"/>
          <a:lstStyle/>
          <a:p>
            <a:pPr marL="0" indent="0">
              <a:buNone/>
            </a:pPr>
            <a:r>
              <a:rPr lang="en-US" sz="1200" b="1">
                <a:solidFill>
                  <a:srgbClr val="1B2A4A"/>
                </a:solidFill>
                <a:latin typeface="Calibri" panose="020F0502020204030204"/>
                <a:ea typeface="Calibri" panose="020F0502020204030204"/>
                <a:cs typeface="Calibri" panose="020F0502020204030204"/>
              </a:rPr>
              <a:t>Missing BMI Values</a:t>
            </a:r>
            <a:endParaRPr lang="en-US" sz="1200">
              <a:latin typeface="Calibri" panose="020F0502020204030204"/>
              <a:ea typeface="Calibri" panose="020F0502020204030204"/>
              <a:cs typeface="Calibri" panose="020F0502020204030204"/>
            </a:endParaRPr>
          </a:p>
        </p:txBody>
      </p:sp>
      <p:sp>
        <p:nvSpPr>
          <p:cNvPr id="13" name="Text 9"/>
          <p:cNvSpPr/>
          <p:nvPr/>
        </p:nvSpPr>
        <p:spPr>
          <a:xfrm>
            <a:off x="3310128" y="1572768"/>
            <a:ext cx="2423160" cy="777240"/>
          </a:xfrm>
          <a:prstGeom prst="rect">
            <a:avLst/>
          </a:prstGeom>
          <a:noFill/>
        </p:spPr>
        <p:txBody>
          <a:bodyPr wrap="square" lIns="91440" tIns="45720" rIns="91440" bIns="45720" rtlCol="0" anchor="ctr"/>
          <a:lstStyle/>
          <a:p>
            <a:pPr marL="0" indent="0">
              <a:buNone/>
            </a:pPr>
            <a:r>
              <a:rPr lang="en-US" sz="1100">
                <a:solidFill>
                  <a:srgbClr val="64748B"/>
                </a:solidFill>
                <a:latin typeface="Calibri" panose="020F0502020204030204"/>
                <a:ea typeface="Calibri" panose="020F0502020204030204"/>
                <a:cs typeface="Calibri" panose="020F0502020204030204"/>
              </a:rPr>
              <a:t>Filled with median robust to outliers </a:t>
            </a:r>
            <a:r>
              <a:rPr lang="en-US" sz="1100" dirty="0">
                <a:solidFill>
                  <a:srgbClr val="64748B"/>
                </a:solidFill>
                <a:latin typeface="Calibri" panose="020F0502020204030204"/>
                <a:ea typeface="Calibri" panose="020F0502020204030204"/>
                <a:cs typeface="Calibri" panose="020F0502020204030204"/>
              </a:rPr>
              <a:t>unlike mean</a:t>
            </a:r>
            <a:endParaRPr lang="en-US" sz="1100" dirty="0">
              <a:latin typeface="Calibri" panose="020F0502020204030204"/>
              <a:ea typeface="Calibri" panose="020F0502020204030204"/>
              <a:cs typeface="Calibri" panose="020F0502020204030204"/>
            </a:endParaRPr>
          </a:p>
        </p:txBody>
      </p:sp>
      <p:sp>
        <p:nvSpPr>
          <p:cNvPr id="14" name="Shape 10"/>
          <p:cNvSpPr/>
          <p:nvPr/>
        </p:nvSpPr>
        <p:spPr>
          <a:xfrm>
            <a:off x="6035040" y="960120"/>
            <a:ext cx="2606040" cy="1554480"/>
          </a:xfrm>
          <a:prstGeom prst="rect">
            <a:avLst/>
          </a:prstGeom>
          <a:solidFill>
            <a:srgbClr val="FFFFFF"/>
          </a:solidFill>
          <a:effectLst>
            <a:outerShdw blurRad="101600" dist="38100" dir="8100000" algn="bl" rotWithShape="0">
              <a:srgbClr val="000000">
                <a:alpha val="12000"/>
              </a:srgbClr>
            </a:outerShdw>
          </a:effectLst>
        </p:spPr>
      </p:sp>
      <p:sp>
        <p:nvSpPr>
          <p:cNvPr id="15" name="Shape 11"/>
          <p:cNvSpPr/>
          <p:nvPr/>
        </p:nvSpPr>
        <p:spPr>
          <a:xfrm>
            <a:off x="6035040" y="960120"/>
            <a:ext cx="2606040" cy="64008"/>
          </a:xfrm>
          <a:prstGeom prst="rect">
            <a:avLst/>
          </a:prstGeom>
          <a:solidFill>
            <a:srgbClr val="C00000"/>
          </a:solidFill>
        </p:spPr>
      </p:sp>
      <p:sp>
        <p:nvSpPr>
          <p:cNvPr id="17" name="Text 12"/>
          <p:cNvSpPr/>
          <p:nvPr/>
        </p:nvSpPr>
        <p:spPr>
          <a:xfrm>
            <a:off x="6812521" y="1078992"/>
            <a:ext cx="1965960" cy="457200"/>
          </a:xfrm>
          <a:prstGeom prst="rect">
            <a:avLst/>
          </a:prstGeom>
          <a:noFill/>
        </p:spPr>
        <p:txBody>
          <a:bodyPr wrap="square" lIns="91440" tIns="45720" rIns="91440" bIns="45720" rtlCol="0" anchor="ctr"/>
          <a:lstStyle/>
          <a:p>
            <a:r>
              <a:rPr lang="en-US" sz="1200" b="1">
                <a:solidFill>
                  <a:srgbClr val="1B2A4A"/>
                </a:solidFill>
                <a:latin typeface="Calibri" panose="020F0502020204030204"/>
                <a:ea typeface="Calibri" panose="020F0502020204030204"/>
                <a:cs typeface="Calibri" panose="020F0502020204030204"/>
              </a:rPr>
              <a:t>Other Gender</a:t>
            </a:r>
            <a:endParaRPr lang="en-US" sz="1200" dirty="0"/>
          </a:p>
        </p:txBody>
      </p:sp>
      <p:sp>
        <p:nvSpPr>
          <p:cNvPr id="18" name="Text 13"/>
          <p:cNvSpPr/>
          <p:nvPr/>
        </p:nvSpPr>
        <p:spPr>
          <a:xfrm>
            <a:off x="6144768" y="1572768"/>
            <a:ext cx="2423160" cy="777240"/>
          </a:xfrm>
          <a:prstGeom prst="rect">
            <a:avLst/>
          </a:prstGeom>
          <a:noFill/>
        </p:spPr>
        <p:txBody>
          <a:bodyPr wrap="square" lIns="91440" tIns="45720" rIns="91440" bIns="45720" rtlCol="0" anchor="ctr"/>
          <a:lstStyle/>
          <a:p>
            <a:pPr marL="0" indent="0">
              <a:buNone/>
            </a:pPr>
            <a:r>
              <a:rPr lang="en-US" sz="1100">
                <a:solidFill>
                  <a:srgbClr val="64748B"/>
                </a:solidFill>
                <a:latin typeface="Calibri" panose="020F0502020204030204"/>
                <a:ea typeface="Calibri" panose="020F0502020204030204"/>
                <a:cs typeface="Calibri" panose="020F0502020204030204"/>
              </a:rPr>
              <a:t>&lt; 0.2% of rows removed </a:t>
            </a:r>
            <a:endParaRPr lang="en-US" sz="1100">
              <a:solidFill>
                <a:srgbClr val="64748B"/>
              </a:solidFill>
              <a:latin typeface="Calibri" panose="020F0502020204030204"/>
              <a:ea typeface="Calibri" panose="020F0502020204030204"/>
              <a:cs typeface="Calibri" panose="020F0502020204030204"/>
            </a:endParaRPr>
          </a:p>
        </p:txBody>
      </p:sp>
      <p:sp>
        <p:nvSpPr>
          <p:cNvPr id="21" name="Shape 16"/>
          <p:cNvSpPr/>
          <p:nvPr/>
        </p:nvSpPr>
        <p:spPr>
          <a:xfrm>
            <a:off x="365760" y="3207218"/>
            <a:ext cx="8412480" cy="1371600"/>
          </a:xfrm>
          <a:prstGeom prst="rect">
            <a:avLst/>
          </a:prstGeom>
          <a:solidFill>
            <a:schemeClr val="tx2">
              <a:lumMod val="75000"/>
            </a:schemeClr>
          </a:solidFill>
          <a:effectLst>
            <a:outerShdw blurRad="101600" dist="38100" dir="8100000" algn="bl" rotWithShape="0">
              <a:srgbClr val="000000">
                <a:alpha val="12000"/>
              </a:srgbClr>
            </a:outerShdw>
          </a:effectLst>
        </p:spPr>
      </p:sp>
      <p:pic>
        <p:nvPicPr>
          <p:cNvPr id="22" name="Image 3" descr="preencoded.png"/>
          <p:cNvPicPr>
            <a:picLocks noChangeAspect="1"/>
          </p:cNvPicPr>
          <p:nvPr/>
        </p:nvPicPr>
        <p:blipFill>
          <a:blip r:embed="rId1"/>
          <a:stretch>
            <a:fillRect/>
          </a:stretch>
        </p:blipFill>
        <p:spPr>
          <a:xfrm>
            <a:off x="502920" y="3493008"/>
            <a:ext cx="502920" cy="502920"/>
          </a:xfrm>
          <a:prstGeom prst="rect">
            <a:avLst/>
          </a:prstGeom>
        </p:spPr>
      </p:pic>
      <p:sp>
        <p:nvSpPr>
          <p:cNvPr id="23" name="Text 17"/>
          <p:cNvSpPr/>
          <p:nvPr/>
        </p:nvSpPr>
        <p:spPr>
          <a:xfrm>
            <a:off x="1143000" y="3364992"/>
            <a:ext cx="4572000" cy="384048"/>
          </a:xfrm>
          <a:prstGeom prst="rect">
            <a:avLst/>
          </a:prstGeom>
          <a:noFill/>
        </p:spPr>
        <p:txBody>
          <a:bodyPr wrap="square" rtlCol="0" anchor="ctr"/>
          <a:lstStyle/>
          <a:p>
            <a:pPr marL="0" indent="0">
              <a:buNone/>
            </a:pPr>
            <a:r>
              <a:rPr lang="en-US" sz="1400" b="1" dirty="0">
                <a:solidFill>
                  <a:srgbClr val="BAE6FD"/>
                </a:solidFill>
                <a:latin typeface="Calibri" panose="020F0502020204030204" pitchFamily="34" charset="0"/>
                <a:ea typeface="Calibri" panose="020F0502020204030204" pitchFamily="34" charset="-122"/>
                <a:cs typeface="Calibri" panose="020F0502020204030204" pitchFamily="34" charset="-120"/>
              </a:rPr>
              <a:t>New Feature Engineered</a:t>
            </a:r>
            <a:endParaRPr lang="en-US" sz="1400" dirty="0"/>
          </a:p>
        </p:txBody>
      </p:sp>
      <p:sp>
        <p:nvSpPr>
          <p:cNvPr id="24" name="Text 18"/>
          <p:cNvSpPr/>
          <p:nvPr/>
        </p:nvSpPr>
        <p:spPr>
          <a:xfrm>
            <a:off x="1143000" y="3703320"/>
            <a:ext cx="7498080" cy="384048"/>
          </a:xfrm>
          <a:prstGeom prst="rect">
            <a:avLst/>
          </a:prstGeom>
          <a:noFill/>
        </p:spPr>
        <p:txBody>
          <a:bodyPr wrap="square" rtlCol="0" anchor="ctr"/>
          <a:lstStyle/>
          <a:p>
            <a:pPr marL="0" indent="0">
              <a:buNone/>
            </a:pPr>
            <a:r>
              <a:rPr lang="en-US" sz="1500" b="1" dirty="0">
                <a:solidFill>
                  <a:srgbClr val="FFFFFF"/>
                </a:solidFill>
                <a:latin typeface="Consolas" panose="020B0609020204030204" pitchFamily="34" charset="0"/>
                <a:ea typeface="Consolas" panose="020B0609020204030204" pitchFamily="34" charset="-122"/>
                <a:cs typeface="Consolas" panose="020B0609020204030204" pitchFamily="34" charset="-120"/>
              </a:rPr>
              <a:t>glucose_bmi_ratio  =  avg_glucose_level  ÷  bmi</a:t>
            </a:r>
            <a:endParaRPr lang="en-US" sz="1500" dirty="0"/>
          </a:p>
        </p:txBody>
      </p:sp>
      <p:sp>
        <p:nvSpPr>
          <p:cNvPr id="25" name="Text 19"/>
          <p:cNvSpPr/>
          <p:nvPr/>
        </p:nvSpPr>
        <p:spPr>
          <a:xfrm>
            <a:off x="1143000" y="4096512"/>
            <a:ext cx="7315200" cy="384048"/>
          </a:xfrm>
          <a:prstGeom prst="rect">
            <a:avLst/>
          </a:prstGeom>
          <a:noFill/>
        </p:spPr>
        <p:txBody>
          <a:bodyPr wrap="square" rtlCol="0" anchor="ctr"/>
          <a:lstStyle/>
          <a:p>
            <a:pPr marL="0" indent="0">
              <a:buNone/>
            </a:pPr>
            <a:r>
              <a:rPr lang="en-US" sz="1100" i="1" dirty="0">
                <a:solidFill>
                  <a:srgbClr val="BAE6FD"/>
                </a:solidFill>
                <a:latin typeface="Calibri" panose="020F0502020204030204" pitchFamily="34" charset="0"/>
                <a:ea typeface="Calibri" panose="020F0502020204030204" pitchFamily="34" charset="-122"/>
                <a:cs typeface="Calibri" panose="020F0502020204030204" pitchFamily="34" charset="-120"/>
              </a:rPr>
              <a:t>High blood sugar + high body weight = compound cardiovascular risk. This ratio captures both signals in one feature.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F6FF"/>
        </a:solidFill>
        <a:effectLst/>
      </p:bgPr>
    </p:bg>
    <p:spTree>
      <p:nvGrpSpPr>
        <p:cNvPr id="1" name=""/>
        <p:cNvGrpSpPr/>
        <p:nvPr/>
      </p:nvGrpSpPr>
      <p:grpSpPr>
        <a:xfrm>
          <a:off x="0" y="0"/>
          <a:ext cx="0" cy="0"/>
          <a:chOff x="0" y="0"/>
          <a:chExt cx="0" cy="0"/>
        </a:xfrm>
      </p:grpSpPr>
      <p:sp>
        <p:nvSpPr>
          <p:cNvPr id="3" name="Text 1"/>
          <p:cNvSpPr/>
          <p:nvPr/>
        </p:nvSpPr>
        <p:spPr>
          <a:xfrm>
            <a:off x="365760" y="0"/>
            <a:ext cx="8229600" cy="822960"/>
          </a:xfrm>
          <a:prstGeom prst="rect">
            <a:avLst/>
          </a:prstGeom>
          <a:noFill/>
        </p:spPr>
        <p:txBody>
          <a:bodyPr wrap="square" lIns="91440" tIns="45720" rIns="91440" bIns="45720" rtlCol="0" anchor="ctr"/>
          <a:lstStyle/>
          <a:p>
            <a:pPr marL="0" indent="0">
              <a:buNone/>
            </a:pPr>
            <a:r>
              <a:rPr lang="en-US" sz="2400" b="1" dirty="0">
                <a:latin typeface="Calibri" panose="020F0502020204030204"/>
                <a:ea typeface="Calibri" panose="020F0502020204030204"/>
                <a:cs typeface="Calibri" panose="020F0502020204030204"/>
              </a:rPr>
              <a:t>Exploratory Data Analysis</a:t>
            </a:r>
            <a:endParaRPr lang="en-US" sz="2400" dirty="0">
              <a:latin typeface="Calibri" panose="020F0502020204030204"/>
              <a:ea typeface="Calibri" panose="020F0502020204030204"/>
              <a:cs typeface="Calibri" panose="020F0502020204030204"/>
            </a:endParaRPr>
          </a:p>
        </p:txBody>
      </p:sp>
      <p:sp>
        <p:nvSpPr>
          <p:cNvPr id="4" name="Shape 2"/>
          <p:cNvSpPr/>
          <p:nvPr/>
        </p:nvSpPr>
        <p:spPr>
          <a:xfrm>
            <a:off x="320040" y="960120"/>
            <a:ext cx="2651760" cy="1828800"/>
          </a:xfrm>
          <a:prstGeom prst="rect">
            <a:avLst/>
          </a:prstGeom>
          <a:solidFill>
            <a:srgbClr val="FFFFFF"/>
          </a:solidFill>
          <a:effectLst>
            <a:outerShdw blurRad="101600" dist="38100" dir="8100000" algn="bl" rotWithShape="0">
              <a:srgbClr val="000000">
                <a:alpha val="12000"/>
              </a:srgbClr>
            </a:outerShdw>
          </a:effectLst>
        </p:spPr>
      </p:sp>
      <p:sp>
        <p:nvSpPr>
          <p:cNvPr id="5" name="Shape 3"/>
          <p:cNvSpPr/>
          <p:nvPr/>
        </p:nvSpPr>
        <p:spPr>
          <a:xfrm>
            <a:off x="320040" y="960120"/>
            <a:ext cx="2651760" cy="54864"/>
          </a:xfrm>
          <a:prstGeom prst="rect">
            <a:avLst/>
          </a:prstGeom>
          <a:solidFill>
            <a:srgbClr val="C00000"/>
          </a:solidFill>
        </p:spPr>
      </p:sp>
      <p:sp>
        <p:nvSpPr>
          <p:cNvPr id="6" name="Shape 4"/>
          <p:cNvSpPr/>
          <p:nvPr/>
        </p:nvSpPr>
        <p:spPr>
          <a:xfrm>
            <a:off x="429768" y="1069848"/>
            <a:ext cx="384048" cy="384048"/>
          </a:xfrm>
          <a:prstGeom prst="ellipse">
            <a:avLst/>
          </a:prstGeom>
          <a:solidFill>
            <a:srgbClr val="2563EB"/>
          </a:solidFill>
        </p:spPr>
      </p:sp>
      <p:sp>
        <p:nvSpPr>
          <p:cNvPr id="7" name="Text 5"/>
          <p:cNvSpPr/>
          <p:nvPr/>
        </p:nvSpPr>
        <p:spPr>
          <a:xfrm>
            <a:off x="429768" y="1069848"/>
            <a:ext cx="384048" cy="384048"/>
          </a:xfrm>
          <a:prstGeom prst="rect">
            <a:avLst/>
          </a:prstGeom>
          <a:solidFill>
            <a:srgbClr val="C00000"/>
          </a:solid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400" dirty="0"/>
          </a:p>
        </p:txBody>
      </p:sp>
      <p:sp>
        <p:nvSpPr>
          <p:cNvPr id="8" name="Text 6"/>
          <p:cNvSpPr/>
          <p:nvPr/>
        </p:nvSpPr>
        <p:spPr>
          <a:xfrm>
            <a:off x="886968" y="1069848"/>
            <a:ext cx="2011680" cy="384048"/>
          </a:xfrm>
          <a:prstGeom prst="rect">
            <a:avLst/>
          </a:prstGeom>
          <a:noFill/>
        </p:spPr>
        <p:txBody>
          <a:bodyPr wrap="square" rtlCol="0" anchor="ctr"/>
          <a:lstStyle/>
          <a:p>
            <a:pPr marL="0" indent="0">
              <a:buNone/>
            </a:pPr>
            <a:r>
              <a:rPr lang="en-US" sz="1200" b="1" dirty="0">
                <a:solidFill>
                  <a:srgbClr val="1B2A4A"/>
                </a:solidFill>
                <a:latin typeface="Calibri" panose="020F0502020204030204" pitchFamily="34" charset="0"/>
                <a:ea typeface="Calibri" panose="020F0502020204030204" pitchFamily="34" charset="-122"/>
                <a:cs typeface="Calibri" panose="020F0502020204030204" pitchFamily="34" charset="-120"/>
              </a:rPr>
              <a:t>Count Plot</a:t>
            </a:r>
            <a:endParaRPr lang="en-US" sz="1200" dirty="0"/>
          </a:p>
        </p:txBody>
      </p:sp>
      <p:sp>
        <p:nvSpPr>
          <p:cNvPr id="9" name="Text 7"/>
          <p:cNvSpPr/>
          <p:nvPr/>
        </p:nvSpPr>
        <p:spPr>
          <a:xfrm>
            <a:off x="429768" y="1527048"/>
            <a:ext cx="2450592" cy="1143000"/>
          </a:xfrm>
          <a:prstGeom prst="rect">
            <a:avLst/>
          </a:prstGeom>
          <a:noFill/>
        </p:spPr>
        <p:txBody>
          <a:bodyPr wrap="square" lIns="91440" tIns="45720" rIns="91440" bIns="45720" rtlCol="0" anchor="ctr"/>
          <a:lstStyle/>
          <a:p>
            <a:r>
              <a:rPr lang="en-US" sz="1050" dirty="0">
                <a:solidFill>
                  <a:srgbClr val="64748B"/>
                </a:solidFill>
                <a:latin typeface="Calibri" panose="020F0502020204030204"/>
                <a:ea typeface="Calibri" panose="020F0502020204030204"/>
                <a:cs typeface="Calibri" panose="020F0502020204030204"/>
              </a:rPr>
              <a:t>95% no stroke vs 5% </a:t>
            </a:r>
            <a:r>
              <a:rPr lang="en-US" sz="1050">
                <a:solidFill>
                  <a:srgbClr val="64748B"/>
                </a:solidFill>
                <a:latin typeface="Calibri" panose="020F0502020204030204"/>
                <a:ea typeface="Calibri" panose="020F0502020204030204"/>
                <a:cs typeface="Calibri" panose="020F0502020204030204"/>
              </a:rPr>
              <a:t>stroke</a:t>
            </a:r>
            <a:r>
              <a:rPr lang="en-US" sz="1050" dirty="0">
                <a:solidFill>
                  <a:srgbClr val="64748B"/>
                </a:solidFill>
                <a:latin typeface="Calibri" panose="020F0502020204030204"/>
                <a:ea typeface="Calibri" panose="020F0502020204030204"/>
                <a:cs typeface="Calibri" panose="020F0502020204030204"/>
              </a:rPr>
              <a:t> ,severe imbalance confirmed</a:t>
            </a:r>
            <a:endParaRPr lang="en-US" sz="1050">
              <a:latin typeface="Calibri" panose="020F0502020204030204"/>
              <a:ea typeface="Calibri" panose="020F0502020204030204"/>
              <a:cs typeface="Calibri" panose="020F0502020204030204"/>
            </a:endParaRPr>
          </a:p>
        </p:txBody>
      </p:sp>
      <p:sp>
        <p:nvSpPr>
          <p:cNvPr id="10" name="Shape 8"/>
          <p:cNvSpPr/>
          <p:nvPr/>
        </p:nvSpPr>
        <p:spPr>
          <a:xfrm>
            <a:off x="3172968" y="960120"/>
            <a:ext cx="2651760" cy="1828800"/>
          </a:xfrm>
          <a:prstGeom prst="rect">
            <a:avLst/>
          </a:prstGeom>
          <a:solidFill>
            <a:srgbClr val="FFFFFF"/>
          </a:solidFill>
          <a:effectLst>
            <a:outerShdw blurRad="101600" dist="38100" dir="8100000" algn="bl" rotWithShape="0">
              <a:srgbClr val="000000">
                <a:alpha val="12000"/>
              </a:srgbClr>
            </a:outerShdw>
          </a:effectLst>
        </p:spPr>
      </p:sp>
      <p:sp>
        <p:nvSpPr>
          <p:cNvPr id="11" name="Shape 9"/>
          <p:cNvSpPr/>
          <p:nvPr/>
        </p:nvSpPr>
        <p:spPr>
          <a:xfrm>
            <a:off x="3172968" y="960120"/>
            <a:ext cx="2651760" cy="54864"/>
          </a:xfrm>
          <a:prstGeom prst="rect">
            <a:avLst/>
          </a:prstGeom>
          <a:solidFill>
            <a:srgbClr val="C00000"/>
          </a:solidFill>
        </p:spPr>
      </p:sp>
      <p:sp>
        <p:nvSpPr>
          <p:cNvPr id="12" name="Shape 10"/>
          <p:cNvSpPr/>
          <p:nvPr/>
        </p:nvSpPr>
        <p:spPr>
          <a:xfrm>
            <a:off x="3282696" y="1069848"/>
            <a:ext cx="384048" cy="384048"/>
          </a:xfrm>
          <a:prstGeom prst="ellipse">
            <a:avLst/>
          </a:prstGeom>
          <a:solidFill>
            <a:srgbClr val="0891B2"/>
          </a:solidFill>
        </p:spPr>
      </p:sp>
      <p:sp>
        <p:nvSpPr>
          <p:cNvPr id="13" name="Text 11"/>
          <p:cNvSpPr/>
          <p:nvPr/>
        </p:nvSpPr>
        <p:spPr>
          <a:xfrm>
            <a:off x="3282696" y="1069848"/>
            <a:ext cx="384048" cy="384048"/>
          </a:xfrm>
          <a:prstGeom prst="rect">
            <a:avLst/>
          </a:prstGeom>
          <a:solidFill>
            <a:srgbClr val="C00000"/>
          </a:solid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400" dirty="0"/>
          </a:p>
        </p:txBody>
      </p:sp>
      <p:sp>
        <p:nvSpPr>
          <p:cNvPr id="14" name="Text 12"/>
          <p:cNvSpPr/>
          <p:nvPr/>
        </p:nvSpPr>
        <p:spPr>
          <a:xfrm>
            <a:off x="3739896" y="1069848"/>
            <a:ext cx="2011680" cy="384048"/>
          </a:xfrm>
          <a:prstGeom prst="rect">
            <a:avLst/>
          </a:prstGeom>
          <a:noFill/>
        </p:spPr>
        <p:txBody>
          <a:bodyPr wrap="square" rtlCol="0" anchor="ctr"/>
          <a:lstStyle/>
          <a:p>
            <a:pPr marL="0" indent="0">
              <a:buNone/>
            </a:pPr>
            <a:r>
              <a:rPr lang="en-US" sz="1200" b="1" dirty="0">
                <a:solidFill>
                  <a:srgbClr val="1B2A4A"/>
                </a:solidFill>
                <a:latin typeface="Calibri" panose="020F0502020204030204" pitchFamily="34" charset="0"/>
                <a:ea typeface="Calibri" panose="020F0502020204030204" pitchFamily="34" charset="-122"/>
                <a:cs typeface="Calibri" panose="020F0502020204030204" pitchFamily="34" charset="-120"/>
              </a:rPr>
              <a:t>Histogram</a:t>
            </a:r>
            <a:endParaRPr lang="en-US" sz="1200" dirty="0"/>
          </a:p>
        </p:txBody>
      </p:sp>
      <p:sp>
        <p:nvSpPr>
          <p:cNvPr id="15" name="Text 13"/>
          <p:cNvSpPr/>
          <p:nvPr/>
        </p:nvSpPr>
        <p:spPr>
          <a:xfrm>
            <a:off x="3282696" y="1527048"/>
            <a:ext cx="2450592" cy="1143000"/>
          </a:xfrm>
          <a:prstGeom prst="rect">
            <a:avLst/>
          </a:prstGeom>
          <a:noFill/>
        </p:spPr>
        <p:txBody>
          <a:bodyPr wrap="square" rtlCol="0" anchor="ctr"/>
          <a:lstStyle/>
          <a:p>
            <a:pPr marL="0" indent="0">
              <a:buNone/>
            </a:pP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Stroke cases are heavily concentrated in patients aged 60+</a:t>
            </a:r>
            <a:endParaRPr lang="en-US" sz="1050" dirty="0"/>
          </a:p>
        </p:txBody>
      </p:sp>
      <p:sp>
        <p:nvSpPr>
          <p:cNvPr id="16" name="Shape 14"/>
          <p:cNvSpPr/>
          <p:nvPr/>
        </p:nvSpPr>
        <p:spPr>
          <a:xfrm>
            <a:off x="6025896" y="960120"/>
            <a:ext cx="2651760" cy="1828800"/>
          </a:xfrm>
          <a:prstGeom prst="rect">
            <a:avLst/>
          </a:prstGeom>
          <a:solidFill>
            <a:srgbClr val="FFFFFF"/>
          </a:solidFill>
          <a:effectLst>
            <a:outerShdw blurRad="101600" dist="38100" dir="8100000" algn="bl" rotWithShape="0">
              <a:srgbClr val="000000">
                <a:alpha val="12000"/>
              </a:srgbClr>
            </a:outerShdw>
          </a:effectLst>
        </p:spPr>
      </p:sp>
      <p:sp>
        <p:nvSpPr>
          <p:cNvPr id="17" name="Shape 15"/>
          <p:cNvSpPr/>
          <p:nvPr/>
        </p:nvSpPr>
        <p:spPr>
          <a:xfrm>
            <a:off x="6025896" y="960120"/>
            <a:ext cx="2651760" cy="54864"/>
          </a:xfrm>
          <a:prstGeom prst="rect">
            <a:avLst/>
          </a:prstGeom>
          <a:solidFill>
            <a:srgbClr val="C00000"/>
          </a:solidFill>
        </p:spPr>
      </p:sp>
      <p:sp>
        <p:nvSpPr>
          <p:cNvPr id="18" name="Shape 16"/>
          <p:cNvSpPr/>
          <p:nvPr/>
        </p:nvSpPr>
        <p:spPr>
          <a:xfrm>
            <a:off x="6135624" y="1069848"/>
            <a:ext cx="384048" cy="384048"/>
          </a:xfrm>
          <a:prstGeom prst="ellipse">
            <a:avLst/>
          </a:prstGeom>
          <a:solidFill>
            <a:srgbClr val="1B2A4A"/>
          </a:solidFill>
        </p:spPr>
      </p:sp>
      <p:sp>
        <p:nvSpPr>
          <p:cNvPr id="19" name="Text 17"/>
          <p:cNvSpPr/>
          <p:nvPr/>
        </p:nvSpPr>
        <p:spPr>
          <a:xfrm>
            <a:off x="6135624" y="1069848"/>
            <a:ext cx="384048" cy="384048"/>
          </a:xfrm>
          <a:prstGeom prst="rect">
            <a:avLst/>
          </a:prstGeom>
          <a:solidFill>
            <a:srgbClr val="C00000"/>
          </a:solid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400" dirty="0"/>
          </a:p>
        </p:txBody>
      </p:sp>
      <p:sp>
        <p:nvSpPr>
          <p:cNvPr id="20" name="Text 18"/>
          <p:cNvSpPr/>
          <p:nvPr/>
        </p:nvSpPr>
        <p:spPr>
          <a:xfrm>
            <a:off x="6592824" y="1069848"/>
            <a:ext cx="2011680" cy="384048"/>
          </a:xfrm>
          <a:prstGeom prst="rect">
            <a:avLst/>
          </a:prstGeom>
          <a:noFill/>
        </p:spPr>
        <p:txBody>
          <a:bodyPr wrap="square" rtlCol="0" anchor="ctr"/>
          <a:lstStyle/>
          <a:p>
            <a:pPr marL="0" indent="0">
              <a:buNone/>
            </a:pPr>
            <a:r>
              <a:rPr lang="en-US" sz="1200" b="1" dirty="0">
                <a:solidFill>
                  <a:srgbClr val="1B2A4A"/>
                </a:solidFill>
                <a:latin typeface="Calibri" panose="020F0502020204030204" pitchFamily="34" charset="0"/>
                <a:ea typeface="Calibri" panose="020F0502020204030204" pitchFamily="34" charset="-122"/>
                <a:cs typeface="Calibri" panose="020F0502020204030204" pitchFamily="34" charset="-120"/>
              </a:rPr>
              <a:t>Box Plots</a:t>
            </a:r>
            <a:endParaRPr lang="en-US" sz="1200" dirty="0"/>
          </a:p>
        </p:txBody>
      </p:sp>
      <p:sp>
        <p:nvSpPr>
          <p:cNvPr id="21" name="Text 19"/>
          <p:cNvSpPr/>
          <p:nvPr/>
        </p:nvSpPr>
        <p:spPr>
          <a:xfrm>
            <a:off x="6135624" y="1527048"/>
            <a:ext cx="2450592" cy="1143000"/>
          </a:xfrm>
          <a:prstGeom prst="rect">
            <a:avLst/>
          </a:prstGeom>
          <a:noFill/>
        </p:spPr>
        <p:txBody>
          <a:bodyPr wrap="square" rtlCol="0" anchor="ctr"/>
          <a:lstStyle/>
          <a:p>
            <a:pPr marL="0" indent="0">
              <a:buNone/>
            </a:pP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Stroke patients show higher age, glucose, and BMI on average</a:t>
            </a:r>
            <a:endParaRPr lang="en-US" sz="1050" dirty="0"/>
          </a:p>
        </p:txBody>
      </p:sp>
      <p:sp>
        <p:nvSpPr>
          <p:cNvPr id="23" name="Shape 21"/>
          <p:cNvSpPr/>
          <p:nvPr/>
        </p:nvSpPr>
        <p:spPr>
          <a:xfrm>
            <a:off x="320040" y="2926080"/>
            <a:ext cx="2651760" cy="54864"/>
          </a:xfrm>
          <a:prstGeom prst="rect">
            <a:avLst/>
          </a:prstGeom>
          <a:solidFill>
            <a:srgbClr val="C00000"/>
          </a:solidFill>
        </p:spPr>
      </p:sp>
      <p:sp>
        <p:nvSpPr>
          <p:cNvPr id="25" name="Text 23"/>
          <p:cNvSpPr/>
          <p:nvPr/>
        </p:nvSpPr>
        <p:spPr>
          <a:xfrm>
            <a:off x="429768" y="3035808"/>
            <a:ext cx="384048" cy="384048"/>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400" dirty="0"/>
          </a:p>
        </p:txBody>
      </p:sp>
      <p:sp>
        <p:nvSpPr>
          <p:cNvPr id="29" name="Shape 27"/>
          <p:cNvSpPr/>
          <p:nvPr/>
        </p:nvSpPr>
        <p:spPr>
          <a:xfrm>
            <a:off x="3172968" y="2926080"/>
            <a:ext cx="2651760" cy="54864"/>
          </a:xfrm>
          <a:prstGeom prst="rect">
            <a:avLst/>
          </a:prstGeom>
          <a:solidFill>
            <a:srgbClr val="C00000"/>
          </a:solidFill>
        </p:spPr>
      </p:sp>
      <p:sp>
        <p:nvSpPr>
          <p:cNvPr id="35" name="Shape 33"/>
          <p:cNvSpPr/>
          <p:nvPr/>
        </p:nvSpPr>
        <p:spPr>
          <a:xfrm>
            <a:off x="6025896" y="2926080"/>
            <a:ext cx="2651760" cy="54864"/>
          </a:xfrm>
          <a:prstGeom prst="rect">
            <a:avLst/>
          </a:prstGeom>
          <a:solidFill>
            <a:srgbClr val="C00000"/>
          </a:solidFill>
        </p:spPr>
      </p:sp>
      <p:pic>
        <p:nvPicPr>
          <p:cNvPr id="40" name="Picture 39"/>
          <p:cNvPicPr>
            <a:picLocks noChangeAspect="1"/>
          </p:cNvPicPr>
          <p:nvPr/>
        </p:nvPicPr>
        <p:blipFill>
          <a:blip r:embed="rId1"/>
          <a:stretch>
            <a:fillRect/>
          </a:stretch>
        </p:blipFill>
        <p:spPr>
          <a:xfrm>
            <a:off x="161229" y="3426061"/>
            <a:ext cx="4685525" cy="1413931"/>
          </a:xfrm>
          <a:prstGeom prst="rect">
            <a:avLst/>
          </a:prstGeom>
        </p:spPr>
      </p:pic>
      <p:pic>
        <p:nvPicPr>
          <p:cNvPr id="42" name="Picture 41" descr="A graph of a box plot&#10;&#10;AI-generated content may be incorrect."/>
          <p:cNvPicPr>
            <a:picLocks noChangeAspect="1"/>
          </p:cNvPicPr>
          <p:nvPr/>
        </p:nvPicPr>
        <p:blipFill>
          <a:blip r:embed="rId2"/>
          <a:stretch>
            <a:fillRect/>
          </a:stretch>
        </p:blipFill>
        <p:spPr>
          <a:xfrm>
            <a:off x="4986799" y="3427883"/>
            <a:ext cx="3991282" cy="143098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F6FF"/>
        </a:solidFill>
        <a:effectLst/>
      </p:bgPr>
    </p:bg>
    <p:spTree>
      <p:nvGrpSpPr>
        <p:cNvPr id="1" name=""/>
        <p:cNvGrpSpPr/>
        <p:nvPr/>
      </p:nvGrpSpPr>
      <p:grpSpPr>
        <a:xfrm>
          <a:off x="0" y="0"/>
          <a:ext cx="0" cy="0"/>
          <a:chOff x="0" y="0"/>
          <a:chExt cx="0" cy="0"/>
        </a:xfrm>
      </p:grpSpPr>
      <p:sp>
        <p:nvSpPr>
          <p:cNvPr id="3" name="Text 1"/>
          <p:cNvSpPr/>
          <p:nvPr/>
        </p:nvSpPr>
        <p:spPr>
          <a:xfrm>
            <a:off x="365760" y="0"/>
            <a:ext cx="8229600" cy="822960"/>
          </a:xfrm>
          <a:prstGeom prst="rect">
            <a:avLst/>
          </a:prstGeom>
          <a:noFill/>
        </p:spPr>
        <p:txBody>
          <a:bodyPr wrap="square" lIns="91440" tIns="45720" rIns="91440" bIns="45720" rtlCol="0" anchor="ctr"/>
          <a:lstStyle/>
          <a:p>
            <a:pPr marL="0" indent="0">
              <a:buNone/>
            </a:pPr>
            <a:r>
              <a:rPr lang="en-US" sz="2400" b="1" dirty="0">
                <a:latin typeface="Calibri" panose="020F0502020204030204"/>
                <a:ea typeface="Calibri" panose="020F0502020204030204"/>
                <a:cs typeface="Calibri" panose="020F0502020204030204"/>
              </a:rPr>
              <a:t>Exploratory Data Analysis</a:t>
            </a:r>
            <a:endParaRPr lang="en-US" sz="2400">
              <a:latin typeface="Calibri" panose="020F0502020204030204"/>
              <a:ea typeface="Calibri" panose="020F0502020204030204"/>
              <a:cs typeface="Calibri" panose="020F0502020204030204"/>
            </a:endParaRPr>
          </a:p>
        </p:txBody>
      </p:sp>
      <p:sp>
        <p:nvSpPr>
          <p:cNvPr id="5" name="Shape 3"/>
          <p:cNvSpPr/>
          <p:nvPr/>
        </p:nvSpPr>
        <p:spPr>
          <a:xfrm>
            <a:off x="320040" y="960120"/>
            <a:ext cx="2651760" cy="54864"/>
          </a:xfrm>
          <a:prstGeom prst="rect">
            <a:avLst/>
          </a:prstGeom>
          <a:solidFill>
            <a:srgbClr val="C00000"/>
          </a:solidFill>
        </p:spPr>
      </p:sp>
      <p:sp>
        <p:nvSpPr>
          <p:cNvPr id="11" name="Shape 9"/>
          <p:cNvSpPr/>
          <p:nvPr/>
        </p:nvSpPr>
        <p:spPr>
          <a:xfrm>
            <a:off x="3172968" y="960120"/>
            <a:ext cx="2651760" cy="54864"/>
          </a:xfrm>
          <a:prstGeom prst="rect">
            <a:avLst/>
          </a:prstGeom>
          <a:solidFill>
            <a:srgbClr val="C00000"/>
          </a:solidFill>
        </p:spPr>
      </p:sp>
      <p:sp>
        <p:nvSpPr>
          <p:cNvPr id="17" name="Shape 15"/>
          <p:cNvSpPr/>
          <p:nvPr/>
        </p:nvSpPr>
        <p:spPr>
          <a:xfrm>
            <a:off x="6025896" y="960120"/>
            <a:ext cx="2651760" cy="54864"/>
          </a:xfrm>
          <a:prstGeom prst="rect">
            <a:avLst/>
          </a:prstGeom>
          <a:solidFill>
            <a:srgbClr val="C00000"/>
          </a:solidFill>
        </p:spPr>
      </p:sp>
      <p:sp>
        <p:nvSpPr>
          <p:cNvPr id="22" name="Shape 20"/>
          <p:cNvSpPr/>
          <p:nvPr/>
        </p:nvSpPr>
        <p:spPr>
          <a:xfrm>
            <a:off x="320040" y="2926080"/>
            <a:ext cx="2651760" cy="1828800"/>
          </a:xfrm>
          <a:prstGeom prst="rect">
            <a:avLst/>
          </a:prstGeom>
          <a:solidFill>
            <a:srgbClr val="FFFFFF"/>
          </a:solidFill>
          <a:effectLst>
            <a:outerShdw blurRad="101600" dist="38100" dir="8100000" algn="bl" rotWithShape="0">
              <a:srgbClr val="000000">
                <a:alpha val="12000"/>
              </a:srgbClr>
            </a:outerShdw>
          </a:effectLst>
        </p:spPr>
      </p:sp>
      <p:sp>
        <p:nvSpPr>
          <p:cNvPr id="23" name="Shape 21"/>
          <p:cNvSpPr/>
          <p:nvPr/>
        </p:nvSpPr>
        <p:spPr>
          <a:xfrm>
            <a:off x="320040" y="2926080"/>
            <a:ext cx="2651760" cy="54864"/>
          </a:xfrm>
          <a:prstGeom prst="rect">
            <a:avLst/>
          </a:prstGeom>
          <a:solidFill>
            <a:srgbClr val="C00000"/>
          </a:solidFill>
        </p:spPr>
      </p:sp>
      <p:sp>
        <p:nvSpPr>
          <p:cNvPr id="24" name="Shape 22"/>
          <p:cNvSpPr/>
          <p:nvPr/>
        </p:nvSpPr>
        <p:spPr>
          <a:xfrm>
            <a:off x="429768" y="3035808"/>
            <a:ext cx="384048" cy="384048"/>
          </a:xfrm>
          <a:prstGeom prst="ellipse">
            <a:avLst/>
          </a:prstGeom>
          <a:solidFill>
            <a:srgbClr val="C00000"/>
          </a:solidFill>
        </p:spPr>
      </p:sp>
      <p:sp>
        <p:nvSpPr>
          <p:cNvPr id="25" name="Text 23"/>
          <p:cNvSpPr/>
          <p:nvPr/>
        </p:nvSpPr>
        <p:spPr>
          <a:xfrm>
            <a:off x="429768" y="3035808"/>
            <a:ext cx="384048" cy="384048"/>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400" dirty="0"/>
          </a:p>
        </p:txBody>
      </p:sp>
      <p:sp>
        <p:nvSpPr>
          <p:cNvPr id="26" name="Text 24"/>
          <p:cNvSpPr/>
          <p:nvPr/>
        </p:nvSpPr>
        <p:spPr>
          <a:xfrm>
            <a:off x="886968" y="3035808"/>
            <a:ext cx="2011680" cy="384048"/>
          </a:xfrm>
          <a:prstGeom prst="rect">
            <a:avLst/>
          </a:prstGeom>
          <a:noFill/>
        </p:spPr>
        <p:txBody>
          <a:bodyPr wrap="square" rtlCol="0" anchor="ctr"/>
          <a:lstStyle/>
          <a:p>
            <a:pPr marL="0" indent="0">
              <a:buNone/>
            </a:pPr>
            <a:r>
              <a:rPr lang="en-US" sz="1200" b="1" dirty="0">
                <a:solidFill>
                  <a:srgbClr val="1B2A4A"/>
                </a:solidFill>
                <a:latin typeface="Calibri" panose="020F0502020204030204" pitchFamily="34" charset="0"/>
                <a:ea typeface="Calibri" panose="020F0502020204030204" pitchFamily="34" charset="-122"/>
                <a:cs typeface="Calibri" panose="020F0502020204030204" pitchFamily="34" charset="-120"/>
              </a:rPr>
              <a:t>Bar Plots</a:t>
            </a:r>
            <a:endParaRPr lang="en-US" sz="1200" dirty="0"/>
          </a:p>
        </p:txBody>
      </p:sp>
      <p:sp>
        <p:nvSpPr>
          <p:cNvPr id="27" name="Text 25"/>
          <p:cNvSpPr/>
          <p:nvPr/>
        </p:nvSpPr>
        <p:spPr>
          <a:xfrm>
            <a:off x="429768" y="3493008"/>
            <a:ext cx="2450592" cy="1143000"/>
          </a:xfrm>
          <a:prstGeom prst="rect">
            <a:avLst/>
          </a:prstGeom>
          <a:noFill/>
        </p:spPr>
        <p:txBody>
          <a:bodyPr wrap="square" rtlCol="0" anchor="ctr"/>
          <a:lstStyle/>
          <a:p>
            <a:pPr marL="0" indent="0">
              <a:buNone/>
            </a:pP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Hypertension &amp; heart disease significantly raise stroke rate</a:t>
            </a:r>
            <a:endParaRPr lang="en-US" sz="1050" dirty="0"/>
          </a:p>
        </p:txBody>
      </p:sp>
      <p:sp>
        <p:nvSpPr>
          <p:cNvPr id="28" name="Shape 26"/>
          <p:cNvSpPr/>
          <p:nvPr/>
        </p:nvSpPr>
        <p:spPr>
          <a:xfrm>
            <a:off x="3172968" y="2926080"/>
            <a:ext cx="2651760" cy="1828800"/>
          </a:xfrm>
          <a:prstGeom prst="rect">
            <a:avLst/>
          </a:prstGeom>
          <a:solidFill>
            <a:srgbClr val="FFFFFF"/>
          </a:solidFill>
          <a:effectLst>
            <a:outerShdw blurRad="101600" dist="38100" dir="8100000" algn="bl" rotWithShape="0">
              <a:srgbClr val="000000">
                <a:alpha val="12000"/>
              </a:srgbClr>
            </a:outerShdw>
          </a:effectLst>
        </p:spPr>
      </p:sp>
      <p:sp>
        <p:nvSpPr>
          <p:cNvPr id="29" name="Shape 27"/>
          <p:cNvSpPr/>
          <p:nvPr/>
        </p:nvSpPr>
        <p:spPr>
          <a:xfrm>
            <a:off x="3172968" y="2926080"/>
            <a:ext cx="2651760" cy="54864"/>
          </a:xfrm>
          <a:prstGeom prst="rect">
            <a:avLst/>
          </a:prstGeom>
          <a:solidFill>
            <a:srgbClr val="C00000"/>
          </a:solidFill>
        </p:spPr>
      </p:sp>
      <p:sp>
        <p:nvSpPr>
          <p:cNvPr id="30" name="Shape 28"/>
          <p:cNvSpPr/>
          <p:nvPr/>
        </p:nvSpPr>
        <p:spPr>
          <a:xfrm>
            <a:off x="3282696" y="3035808"/>
            <a:ext cx="384048" cy="384048"/>
          </a:xfrm>
          <a:prstGeom prst="ellipse">
            <a:avLst/>
          </a:prstGeom>
          <a:solidFill>
            <a:srgbClr val="C00000"/>
          </a:solidFill>
        </p:spPr>
      </p:sp>
      <p:sp>
        <p:nvSpPr>
          <p:cNvPr id="31" name="Text 29"/>
          <p:cNvSpPr/>
          <p:nvPr/>
        </p:nvSpPr>
        <p:spPr>
          <a:xfrm>
            <a:off x="3282696" y="3035808"/>
            <a:ext cx="384048" cy="384048"/>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400" dirty="0"/>
          </a:p>
        </p:txBody>
      </p:sp>
      <p:sp>
        <p:nvSpPr>
          <p:cNvPr id="32" name="Text 30"/>
          <p:cNvSpPr/>
          <p:nvPr/>
        </p:nvSpPr>
        <p:spPr>
          <a:xfrm>
            <a:off x="3739896" y="3035808"/>
            <a:ext cx="2011680" cy="384048"/>
          </a:xfrm>
          <a:prstGeom prst="rect">
            <a:avLst/>
          </a:prstGeom>
          <a:noFill/>
        </p:spPr>
        <p:txBody>
          <a:bodyPr wrap="square" rtlCol="0" anchor="ctr"/>
          <a:lstStyle/>
          <a:p>
            <a:pPr marL="0" indent="0">
              <a:buNone/>
            </a:pPr>
            <a:r>
              <a:rPr lang="en-US" sz="1200" b="1" dirty="0">
                <a:solidFill>
                  <a:srgbClr val="1B2A4A"/>
                </a:solidFill>
                <a:latin typeface="Calibri" panose="020F0502020204030204" pitchFamily="34" charset="0"/>
                <a:ea typeface="Calibri" panose="020F0502020204030204" pitchFamily="34" charset="-122"/>
                <a:cs typeface="Calibri" panose="020F0502020204030204" pitchFamily="34" charset="-120"/>
              </a:rPr>
              <a:t>Scatter Plot</a:t>
            </a:r>
            <a:endParaRPr lang="en-US" sz="1200" dirty="0"/>
          </a:p>
        </p:txBody>
      </p:sp>
      <p:sp>
        <p:nvSpPr>
          <p:cNvPr id="33" name="Text 31"/>
          <p:cNvSpPr/>
          <p:nvPr/>
        </p:nvSpPr>
        <p:spPr>
          <a:xfrm>
            <a:off x="3282696" y="3493008"/>
            <a:ext cx="2450592" cy="1143000"/>
          </a:xfrm>
          <a:prstGeom prst="rect">
            <a:avLst/>
          </a:prstGeom>
          <a:noFill/>
        </p:spPr>
        <p:txBody>
          <a:bodyPr wrap="square" rtlCol="0" anchor="ctr"/>
          <a:lstStyle/>
          <a:p>
            <a:pPr marL="0" indent="0">
              <a:buNone/>
            </a:pP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Older patients with high glucose are at the greatest risk</a:t>
            </a:r>
            <a:endParaRPr lang="en-US" sz="1050" dirty="0"/>
          </a:p>
        </p:txBody>
      </p:sp>
      <p:sp>
        <p:nvSpPr>
          <p:cNvPr id="34" name="Shape 32"/>
          <p:cNvSpPr/>
          <p:nvPr/>
        </p:nvSpPr>
        <p:spPr>
          <a:xfrm>
            <a:off x="6025896" y="2926080"/>
            <a:ext cx="2651760" cy="1828800"/>
          </a:xfrm>
          <a:prstGeom prst="rect">
            <a:avLst/>
          </a:prstGeom>
          <a:solidFill>
            <a:srgbClr val="FFFFFF"/>
          </a:solidFill>
          <a:effectLst>
            <a:outerShdw blurRad="101600" dist="38100" dir="8100000" algn="bl" rotWithShape="0">
              <a:srgbClr val="000000">
                <a:alpha val="12000"/>
              </a:srgbClr>
            </a:outerShdw>
          </a:effectLst>
        </p:spPr>
      </p:sp>
      <p:sp>
        <p:nvSpPr>
          <p:cNvPr id="35" name="Shape 33"/>
          <p:cNvSpPr/>
          <p:nvPr/>
        </p:nvSpPr>
        <p:spPr>
          <a:xfrm>
            <a:off x="6025896" y="2926080"/>
            <a:ext cx="2651760" cy="54864"/>
          </a:xfrm>
          <a:prstGeom prst="rect">
            <a:avLst/>
          </a:prstGeom>
          <a:solidFill>
            <a:srgbClr val="C00000"/>
          </a:solidFill>
        </p:spPr>
      </p:sp>
      <p:sp>
        <p:nvSpPr>
          <p:cNvPr id="36" name="Shape 34"/>
          <p:cNvSpPr/>
          <p:nvPr/>
        </p:nvSpPr>
        <p:spPr>
          <a:xfrm>
            <a:off x="6135624" y="3035808"/>
            <a:ext cx="384048" cy="384048"/>
          </a:xfrm>
          <a:prstGeom prst="ellipse">
            <a:avLst/>
          </a:prstGeom>
          <a:solidFill>
            <a:srgbClr val="C00000"/>
          </a:solidFill>
        </p:spPr>
      </p:sp>
      <p:sp>
        <p:nvSpPr>
          <p:cNvPr id="37" name="Text 35"/>
          <p:cNvSpPr/>
          <p:nvPr/>
        </p:nvSpPr>
        <p:spPr>
          <a:xfrm>
            <a:off x="6135624" y="3035808"/>
            <a:ext cx="384048" cy="384048"/>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6</a:t>
            </a:r>
            <a:endParaRPr lang="en-US" sz="1400" dirty="0"/>
          </a:p>
        </p:txBody>
      </p:sp>
      <p:sp>
        <p:nvSpPr>
          <p:cNvPr id="38" name="Text 36"/>
          <p:cNvSpPr/>
          <p:nvPr/>
        </p:nvSpPr>
        <p:spPr>
          <a:xfrm>
            <a:off x="6592824" y="3035808"/>
            <a:ext cx="2011680" cy="384048"/>
          </a:xfrm>
          <a:prstGeom prst="rect">
            <a:avLst/>
          </a:prstGeom>
          <a:noFill/>
        </p:spPr>
        <p:txBody>
          <a:bodyPr wrap="square" rtlCol="0" anchor="ctr"/>
          <a:lstStyle/>
          <a:p>
            <a:pPr marL="0" indent="0">
              <a:buNone/>
            </a:pPr>
            <a:r>
              <a:rPr lang="en-US" sz="1200" b="1" dirty="0">
                <a:solidFill>
                  <a:srgbClr val="1B2A4A"/>
                </a:solidFill>
                <a:latin typeface="Calibri" panose="020F0502020204030204" pitchFamily="34" charset="0"/>
                <a:ea typeface="Calibri" panose="020F0502020204030204" pitchFamily="34" charset="-122"/>
                <a:cs typeface="Calibri" panose="020F0502020204030204" pitchFamily="34" charset="-120"/>
              </a:rPr>
              <a:t>Heatmap</a:t>
            </a:r>
            <a:endParaRPr lang="en-US" sz="1200" dirty="0"/>
          </a:p>
        </p:txBody>
      </p:sp>
      <p:sp>
        <p:nvSpPr>
          <p:cNvPr id="39" name="Text 37"/>
          <p:cNvSpPr/>
          <p:nvPr/>
        </p:nvSpPr>
        <p:spPr>
          <a:xfrm>
            <a:off x="6135624" y="3493008"/>
            <a:ext cx="2450592" cy="1143000"/>
          </a:xfrm>
          <a:prstGeom prst="rect">
            <a:avLst/>
          </a:prstGeom>
          <a:noFill/>
        </p:spPr>
        <p:txBody>
          <a:bodyPr wrap="square" rtlCol="0" anchor="ctr"/>
          <a:lstStyle/>
          <a:p>
            <a:pPr marL="0" indent="0">
              <a:buNone/>
            </a:pP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Age and glucose show strongest correlation with stroke target</a:t>
            </a:r>
            <a:endParaRPr lang="en-US" sz="1050" dirty="0"/>
          </a:p>
        </p:txBody>
      </p:sp>
      <p:pic>
        <p:nvPicPr>
          <p:cNvPr id="41" name="Picture 40" descr="A graph with a red and blue rectangle&#10;&#10;AI-generated content may be incorrect."/>
          <p:cNvPicPr>
            <a:picLocks noChangeAspect="1"/>
          </p:cNvPicPr>
          <p:nvPr/>
        </p:nvPicPr>
        <p:blipFill>
          <a:blip r:embed="rId1"/>
          <a:stretch>
            <a:fillRect/>
          </a:stretch>
        </p:blipFill>
        <p:spPr>
          <a:xfrm>
            <a:off x="92802" y="1475741"/>
            <a:ext cx="3364475" cy="1086670"/>
          </a:xfrm>
          <a:prstGeom prst="rect">
            <a:avLst/>
          </a:prstGeom>
        </p:spPr>
      </p:pic>
      <p:pic>
        <p:nvPicPr>
          <p:cNvPr id="42" name="Picture 41" descr="A diagram of a graph&#10;&#10;AI-generated content may be incorrect."/>
          <p:cNvPicPr>
            <a:picLocks noChangeAspect="1"/>
          </p:cNvPicPr>
          <p:nvPr/>
        </p:nvPicPr>
        <p:blipFill>
          <a:blip r:embed="rId2"/>
          <a:stretch>
            <a:fillRect/>
          </a:stretch>
        </p:blipFill>
        <p:spPr>
          <a:xfrm>
            <a:off x="3671120" y="1289869"/>
            <a:ext cx="3212076" cy="1393108"/>
          </a:xfrm>
          <a:prstGeom prst="rect">
            <a:avLst/>
          </a:prstGeom>
        </p:spPr>
      </p:pic>
      <p:pic>
        <p:nvPicPr>
          <p:cNvPr id="43" name="Picture 42" descr="A graph of a heatmap&#10;&#10;AI-generated content may be incorrect."/>
          <p:cNvPicPr>
            <a:picLocks noChangeAspect="1"/>
          </p:cNvPicPr>
          <p:nvPr/>
        </p:nvPicPr>
        <p:blipFill>
          <a:blip r:embed="rId3"/>
          <a:stretch>
            <a:fillRect/>
          </a:stretch>
        </p:blipFill>
        <p:spPr>
          <a:xfrm>
            <a:off x="7046381" y="1115346"/>
            <a:ext cx="1973766" cy="170528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F6FF"/>
        </a:solidFill>
        <a:effectLst/>
      </p:bgPr>
    </p:bg>
    <p:spTree>
      <p:nvGrpSpPr>
        <p:cNvPr id="1" name=""/>
        <p:cNvGrpSpPr/>
        <p:nvPr/>
      </p:nvGrpSpPr>
      <p:grpSpPr>
        <a:xfrm>
          <a:off x="0" y="0"/>
          <a:ext cx="0" cy="0"/>
          <a:chOff x="0" y="0"/>
          <a:chExt cx="0" cy="0"/>
        </a:xfrm>
      </p:grpSpPr>
      <p:sp>
        <p:nvSpPr>
          <p:cNvPr id="3" name="Text 1"/>
          <p:cNvSpPr/>
          <p:nvPr/>
        </p:nvSpPr>
        <p:spPr>
          <a:xfrm>
            <a:off x="365760" y="0"/>
            <a:ext cx="8229600" cy="822960"/>
          </a:xfrm>
          <a:prstGeom prst="rect">
            <a:avLst/>
          </a:prstGeom>
          <a:noFill/>
        </p:spPr>
        <p:txBody>
          <a:bodyPr wrap="square" lIns="91440" tIns="45720" rIns="91440" bIns="45720" rtlCol="0" anchor="ctr"/>
          <a:lstStyle/>
          <a:p>
            <a:pPr marL="0" indent="0">
              <a:buNone/>
            </a:pPr>
            <a:r>
              <a:rPr lang="en-US" sz="2400" b="1" dirty="0">
                <a:latin typeface="Calibri" panose="020F0502020204030204"/>
                <a:ea typeface="Calibri" panose="020F0502020204030204"/>
                <a:cs typeface="Calibri" panose="020F0502020204030204"/>
              </a:rPr>
              <a:t>Feature Selection &amp; Scali</a:t>
            </a:r>
            <a:r>
              <a:rPr lang="en-US" sz="2400" b="1" dirty="0">
                <a:solidFill>
                  <a:srgbClr val="FFFFFF"/>
                </a:solidFill>
                <a:latin typeface="Calibri" panose="020F0502020204030204"/>
                <a:ea typeface="Calibri" panose="020F0502020204030204"/>
                <a:cs typeface="Calibri" panose="020F0502020204030204"/>
              </a:rPr>
              <a:t>ng</a:t>
            </a:r>
            <a:endParaRPr lang="en-US" sz="2400" dirty="0">
              <a:latin typeface="Calibri" panose="020F0502020204030204"/>
              <a:ea typeface="Calibri" panose="020F0502020204030204"/>
              <a:cs typeface="Calibri" panose="020F0502020204030204"/>
            </a:endParaRPr>
          </a:p>
        </p:txBody>
      </p:sp>
      <p:sp>
        <p:nvSpPr>
          <p:cNvPr id="4" name="Shape 2"/>
          <p:cNvSpPr/>
          <p:nvPr/>
        </p:nvSpPr>
        <p:spPr>
          <a:xfrm>
            <a:off x="365760" y="960120"/>
            <a:ext cx="3977640" cy="384048"/>
          </a:xfrm>
          <a:prstGeom prst="rect">
            <a:avLst/>
          </a:prstGeom>
          <a:solidFill>
            <a:schemeClr val="tx2">
              <a:lumMod val="75000"/>
            </a:schemeClr>
          </a:solidFill>
        </p:spPr>
      </p:sp>
      <p:sp>
        <p:nvSpPr>
          <p:cNvPr id="5" name="Text 3"/>
          <p:cNvSpPr/>
          <p:nvPr/>
        </p:nvSpPr>
        <p:spPr>
          <a:xfrm>
            <a:off x="365760" y="960120"/>
            <a:ext cx="3977640" cy="384048"/>
          </a:xfrm>
          <a:prstGeom prst="rect">
            <a:avLst/>
          </a:prstGeom>
          <a:noFill/>
        </p:spPr>
        <p:txBody>
          <a:bodyPr wrap="square"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Filter Method — SelectKBest (ANOVA F-test)</a:t>
            </a:r>
            <a:endParaRPr lang="en-US" sz="1200" dirty="0"/>
          </a:p>
        </p:txBody>
      </p:sp>
      <p:sp>
        <p:nvSpPr>
          <p:cNvPr id="38" name="Text 36"/>
          <p:cNvSpPr/>
          <p:nvPr/>
        </p:nvSpPr>
        <p:spPr>
          <a:xfrm>
            <a:off x="365760" y="4663440"/>
            <a:ext cx="5029200" cy="274320"/>
          </a:xfrm>
          <a:prstGeom prst="rect">
            <a:avLst/>
          </a:prstGeom>
          <a:solidFill>
            <a:schemeClr val="accent5">
              <a:lumMod val="20000"/>
              <a:lumOff val="80000"/>
            </a:schemeClr>
          </a:solidFill>
          <a:ln>
            <a:solidFill>
              <a:srgbClr val="C00000"/>
            </a:solidFill>
          </a:ln>
        </p:spPr>
        <p:txBody>
          <a:bodyPr wrap="square" lIns="91440" tIns="45720" rIns="91440" bIns="45720" rtlCol="0" anchor="ctr"/>
          <a:lstStyle/>
          <a:p>
            <a:r>
              <a:rPr lang="en-US" sz="1000" i="1" dirty="0">
                <a:solidFill>
                  <a:srgbClr val="0891B2"/>
                </a:solidFill>
                <a:latin typeface="Calibri" panose="020F0502020204030204"/>
                <a:ea typeface="Calibri" panose="020F0502020204030204"/>
                <a:cs typeface="Calibri" panose="020F0502020204030204"/>
              </a:rPr>
              <a:t>★ Engineered feature  = confirms </a:t>
            </a:r>
            <a:r>
              <a:rPr lang="en-US" sz="1000" i="1" dirty="0" err="1">
                <a:solidFill>
                  <a:srgbClr val="0891B2"/>
                </a:solidFill>
                <a:latin typeface="Calibri" panose="020F0502020204030204"/>
                <a:ea typeface="Calibri" panose="020F0502020204030204"/>
                <a:cs typeface="Calibri" panose="020F0502020204030204"/>
              </a:rPr>
              <a:t>glucose_bmi_ratio</a:t>
            </a:r>
            <a:r>
              <a:rPr lang="en-US" sz="1000" i="1" dirty="0">
                <a:solidFill>
                  <a:srgbClr val="0891B2"/>
                </a:solidFill>
                <a:latin typeface="Calibri" panose="020F0502020204030204"/>
                <a:ea typeface="Calibri" panose="020F0502020204030204"/>
                <a:cs typeface="Calibri" panose="020F0502020204030204"/>
              </a:rPr>
              <a:t> adds predictive value</a:t>
            </a:r>
            <a:endParaRPr lang="en-US" sz="1000" dirty="0">
              <a:latin typeface="Calibri" panose="020F0502020204030204"/>
              <a:ea typeface="Calibri" panose="020F0502020204030204"/>
              <a:cs typeface="Calibri" panose="020F0502020204030204"/>
            </a:endParaRPr>
          </a:p>
        </p:txBody>
      </p:sp>
      <p:sp>
        <p:nvSpPr>
          <p:cNvPr id="39" name="Shape 37"/>
          <p:cNvSpPr/>
          <p:nvPr/>
        </p:nvSpPr>
        <p:spPr>
          <a:xfrm>
            <a:off x="6446520" y="960120"/>
            <a:ext cx="2331720" cy="3474720"/>
          </a:xfrm>
          <a:prstGeom prst="rect">
            <a:avLst/>
          </a:prstGeom>
          <a:solidFill>
            <a:schemeClr val="tx2">
              <a:lumMod val="75000"/>
            </a:schemeClr>
          </a:solidFill>
          <a:effectLst>
            <a:outerShdw blurRad="101600" dist="38100" dir="8100000" algn="bl" rotWithShape="0">
              <a:srgbClr val="000000">
                <a:alpha val="12000"/>
              </a:srgbClr>
            </a:outerShdw>
          </a:effectLst>
        </p:spPr>
      </p:sp>
      <p:sp>
        <p:nvSpPr>
          <p:cNvPr id="40" name="Text 38"/>
          <p:cNvSpPr/>
          <p:nvPr/>
        </p:nvSpPr>
        <p:spPr>
          <a:xfrm>
            <a:off x="6446520" y="1024128"/>
            <a:ext cx="2331720" cy="411480"/>
          </a:xfrm>
          <a:prstGeom prst="rect">
            <a:avLst/>
          </a:prstGeom>
          <a:noFill/>
        </p:spPr>
        <p:txBody>
          <a:bodyPr wrap="square" lIns="91440" tIns="45720" rIns="91440" bIns="45720" rtlCol="0" anchor="ctr"/>
          <a:lstStyle/>
          <a:p>
            <a:pPr marL="0" indent="0" algn="ctr">
              <a:buNone/>
            </a:pPr>
            <a:r>
              <a:rPr lang="en-US" sz="1300" b="1" dirty="0" err="1">
                <a:solidFill>
                  <a:schemeClr val="bg1"/>
                </a:solidFill>
                <a:latin typeface="Calibri" panose="020F0502020204030204"/>
                <a:ea typeface="Calibri" panose="020F0502020204030204"/>
                <a:cs typeface="Calibri" panose="020F0502020204030204"/>
              </a:rPr>
              <a:t>StandardScaler</a:t>
            </a:r>
            <a:endParaRPr lang="en-US" sz="1300" err="1">
              <a:solidFill>
                <a:schemeClr val="bg1"/>
              </a:solidFill>
              <a:latin typeface="Calibri" panose="020F0502020204030204"/>
              <a:ea typeface="Calibri" panose="020F0502020204030204"/>
              <a:cs typeface="Calibri" panose="020F0502020204030204"/>
            </a:endParaRPr>
          </a:p>
        </p:txBody>
      </p:sp>
      <p:sp>
        <p:nvSpPr>
          <p:cNvPr id="41" name="Shape 39"/>
          <p:cNvSpPr/>
          <p:nvPr/>
        </p:nvSpPr>
        <p:spPr>
          <a:xfrm>
            <a:off x="6565392" y="1655728"/>
            <a:ext cx="128016" cy="128016"/>
          </a:xfrm>
          <a:prstGeom prst="ellipse">
            <a:avLst/>
          </a:prstGeom>
          <a:solidFill>
            <a:srgbClr val="C00000"/>
          </a:solidFill>
        </p:spPr>
      </p:sp>
      <p:sp>
        <p:nvSpPr>
          <p:cNvPr id="42" name="Text 40"/>
          <p:cNvSpPr/>
          <p:nvPr/>
        </p:nvSpPr>
        <p:spPr>
          <a:xfrm>
            <a:off x="6748272" y="1527048"/>
            <a:ext cx="1920240" cy="384048"/>
          </a:xfrm>
          <a:prstGeom prst="rect">
            <a:avLst/>
          </a:prstGeom>
          <a:noFill/>
        </p:spPr>
        <p:txBody>
          <a:bodyPr wrap="square" rtlCol="0" anchor="ctr"/>
          <a:lstStyle/>
          <a:p>
            <a:pPr marL="0" indent="0">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Applied to LR &amp; SVM</a:t>
            </a:r>
            <a:endParaRPr lang="en-US" sz="1100" dirty="0"/>
          </a:p>
        </p:txBody>
      </p:sp>
      <p:sp>
        <p:nvSpPr>
          <p:cNvPr id="43" name="Shape 41"/>
          <p:cNvSpPr/>
          <p:nvPr/>
        </p:nvSpPr>
        <p:spPr>
          <a:xfrm>
            <a:off x="6565392" y="2048256"/>
            <a:ext cx="128016" cy="128016"/>
          </a:xfrm>
          <a:prstGeom prst="ellipse">
            <a:avLst/>
          </a:prstGeom>
          <a:solidFill>
            <a:srgbClr val="C00000"/>
          </a:solidFill>
        </p:spPr>
      </p:sp>
      <p:sp>
        <p:nvSpPr>
          <p:cNvPr id="44" name="Text 42"/>
          <p:cNvSpPr/>
          <p:nvPr/>
        </p:nvSpPr>
        <p:spPr>
          <a:xfrm>
            <a:off x="6748272" y="2002536"/>
            <a:ext cx="1920240" cy="384048"/>
          </a:xfrm>
          <a:prstGeom prst="rect">
            <a:avLst/>
          </a:prstGeom>
          <a:noFill/>
        </p:spPr>
        <p:txBody>
          <a:bodyPr wrap="square" rtlCol="0" anchor="ctr"/>
          <a:lstStyle/>
          <a:p>
            <a:pPr marL="0" indent="0">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Fit on train only</a:t>
            </a:r>
            <a:endParaRPr lang="en-US" sz="1100" dirty="0"/>
          </a:p>
        </p:txBody>
      </p:sp>
      <p:sp>
        <p:nvSpPr>
          <p:cNvPr id="45" name="Shape 43"/>
          <p:cNvSpPr/>
          <p:nvPr/>
        </p:nvSpPr>
        <p:spPr>
          <a:xfrm>
            <a:off x="6565392" y="2523744"/>
            <a:ext cx="128016" cy="128016"/>
          </a:xfrm>
          <a:prstGeom prst="ellipse">
            <a:avLst/>
          </a:prstGeom>
          <a:solidFill>
            <a:srgbClr val="C00000"/>
          </a:solidFill>
        </p:spPr>
      </p:sp>
      <p:sp>
        <p:nvSpPr>
          <p:cNvPr id="46" name="Text 44"/>
          <p:cNvSpPr/>
          <p:nvPr/>
        </p:nvSpPr>
        <p:spPr>
          <a:xfrm>
            <a:off x="6748272" y="2478024"/>
            <a:ext cx="1920240" cy="384048"/>
          </a:xfrm>
          <a:prstGeom prst="rect">
            <a:avLst/>
          </a:prstGeom>
          <a:noFill/>
        </p:spPr>
        <p:txBody>
          <a:bodyPr wrap="square" rtlCol="0" anchor="ctr"/>
          <a:lstStyle/>
          <a:p>
            <a:pPr marL="0" indent="0">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Prevents data leakage</a:t>
            </a:r>
            <a:endParaRPr lang="en-US" sz="1100" dirty="0"/>
          </a:p>
        </p:txBody>
      </p:sp>
      <p:sp>
        <p:nvSpPr>
          <p:cNvPr id="47" name="Shape 45"/>
          <p:cNvSpPr/>
          <p:nvPr/>
        </p:nvSpPr>
        <p:spPr>
          <a:xfrm>
            <a:off x="6565392" y="2999232"/>
            <a:ext cx="128016" cy="128016"/>
          </a:xfrm>
          <a:prstGeom prst="ellipse">
            <a:avLst/>
          </a:prstGeom>
          <a:solidFill>
            <a:srgbClr val="C00000"/>
          </a:solidFill>
        </p:spPr>
      </p:sp>
      <p:sp>
        <p:nvSpPr>
          <p:cNvPr id="48" name="Text 46"/>
          <p:cNvSpPr/>
          <p:nvPr/>
        </p:nvSpPr>
        <p:spPr>
          <a:xfrm>
            <a:off x="6748272" y="2953512"/>
            <a:ext cx="1920240" cy="384048"/>
          </a:xfrm>
          <a:prstGeom prst="rect">
            <a:avLst/>
          </a:prstGeom>
          <a:noFill/>
        </p:spPr>
        <p:txBody>
          <a:bodyPr wrap="square" rtlCol="0" anchor="ctr"/>
          <a:lstStyle/>
          <a:p>
            <a:pPr marL="0" indent="0">
              <a:buNone/>
            </a:pPr>
            <a:r>
              <a:rPr lang="en-US" sz="1100" dirty="0">
                <a:solidFill>
                  <a:srgbClr val="FFFFFF"/>
                </a:solidFill>
                <a:latin typeface="Calibri" panose="020F0502020204030204" pitchFamily="34" charset="0"/>
                <a:ea typeface="Calibri" panose="020F0502020204030204" pitchFamily="34" charset="-122"/>
                <a:cs typeface="Calibri" panose="020F0502020204030204" pitchFamily="34" charset="-120"/>
              </a:rPr>
              <a:t>Mean ≈ 0, Std ≈ 1</a:t>
            </a:r>
            <a:endParaRPr lang="en-US" sz="1100" dirty="0"/>
          </a:p>
        </p:txBody>
      </p:sp>
      <p:pic>
        <p:nvPicPr>
          <p:cNvPr id="50" name="Picture 49" descr="A graph with blue bars&#10;&#10;AI-generated content may be incorrect."/>
          <p:cNvPicPr>
            <a:picLocks noChangeAspect="1"/>
          </p:cNvPicPr>
          <p:nvPr/>
        </p:nvPicPr>
        <p:blipFill>
          <a:blip r:embed="rId1"/>
          <a:stretch>
            <a:fillRect/>
          </a:stretch>
        </p:blipFill>
        <p:spPr>
          <a:xfrm>
            <a:off x="165920" y="1576535"/>
            <a:ext cx="5853268" cy="2866119"/>
          </a:xfrm>
          <a:prstGeom prst="rect">
            <a:avLst/>
          </a:prstGeom>
        </p:spPr>
      </p:pic>
      <p:sp>
        <p:nvSpPr>
          <p:cNvPr id="51" name="TextBox 50"/>
          <p:cNvSpPr txBox="1"/>
          <p:nvPr/>
        </p:nvSpPr>
        <p:spPr>
          <a:xfrm>
            <a:off x="0" y="2802194"/>
            <a:ext cx="45720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spAutoFit/>
          </a:bodyPr>
          <a:lstStyle/>
          <a:p>
            <a:r>
              <a:rPr lang="en-US" sz="1000" b="0" i="1" u="none" strike="noStrike" baseline="0">
                <a:solidFill>
                  <a:srgbClr val="0891B2"/>
                </a:solidFill>
                <a:latin typeface="Calibri" panose="020F0502020204030204"/>
              </a:rPr>
              <a:t>★ </a:t>
            </a:r>
            <a:endParaRPr lang="en-US"/>
          </a:p>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6FF"/>
        </a:solidFill>
        <a:effectLst/>
      </p:bgPr>
    </p:bg>
    <p:spTree>
      <p:nvGrpSpPr>
        <p:cNvPr id="1" name=""/>
        <p:cNvGrpSpPr/>
        <p:nvPr/>
      </p:nvGrpSpPr>
      <p:grpSpPr>
        <a:xfrm>
          <a:off x="0" y="0"/>
          <a:ext cx="0" cy="0"/>
          <a:chOff x="0" y="0"/>
          <a:chExt cx="0" cy="0"/>
        </a:xfrm>
      </p:grpSpPr>
      <p:sp>
        <p:nvSpPr>
          <p:cNvPr id="3" name="Text 1"/>
          <p:cNvSpPr/>
          <p:nvPr/>
        </p:nvSpPr>
        <p:spPr>
          <a:xfrm>
            <a:off x="365760" y="0"/>
            <a:ext cx="8229600" cy="822960"/>
          </a:xfrm>
          <a:prstGeom prst="rect">
            <a:avLst/>
          </a:prstGeom>
          <a:noFill/>
        </p:spPr>
        <p:txBody>
          <a:bodyPr wrap="square" lIns="91440" tIns="45720" rIns="91440" bIns="45720" rtlCol="0" anchor="ctr"/>
          <a:lstStyle/>
          <a:p>
            <a:pPr marL="0" indent="0">
              <a:buNone/>
            </a:pPr>
            <a:r>
              <a:rPr lang="en-US" sz="2400" b="1" dirty="0">
                <a:latin typeface="Calibri" panose="020F0502020204030204"/>
                <a:ea typeface="Calibri" panose="020F0502020204030204"/>
                <a:cs typeface="Calibri" panose="020F0502020204030204"/>
              </a:rPr>
              <a:t>Three Algorithms Compared</a:t>
            </a:r>
            <a:endParaRPr lang="en-US" sz="2400" dirty="0">
              <a:latin typeface="Calibri" panose="020F0502020204030204"/>
              <a:ea typeface="Calibri" panose="020F0502020204030204"/>
              <a:cs typeface="Calibri" panose="020F0502020204030204"/>
            </a:endParaRPr>
          </a:p>
        </p:txBody>
      </p:sp>
      <p:sp>
        <p:nvSpPr>
          <p:cNvPr id="4" name="Shape 2"/>
          <p:cNvSpPr/>
          <p:nvPr/>
        </p:nvSpPr>
        <p:spPr>
          <a:xfrm>
            <a:off x="320040" y="960120"/>
            <a:ext cx="2651760" cy="3200400"/>
          </a:xfrm>
          <a:prstGeom prst="rect">
            <a:avLst/>
          </a:prstGeom>
          <a:solidFill>
            <a:srgbClr val="FFFFFF"/>
          </a:solidFill>
          <a:effectLst>
            <a:outerShdw blurRad="101600" dist="38100" dir="8100000" algn="bl" rotWithShape="0">
              <a:srgbClr val="000000">
                <a:alpha val="12000"/>
              </a:srgbClr>
            </a:outerShdw>
          </a:effectLst>
        </p:spPr>
      </p:sp>
      <p:sp>
        <p:nvSpPr>
          <p:cNvPr id="5" name="Shape 3"/>
          <p:cNvSpPr/>
          <p:nvPr/>
        </p:nvSpPr>
        <p:spPr>
          <a:xfrm>
            <a:off x="320040" y="960120"/>
            <a:ext cx="2651760" cy="502920"/>
          </a:xfrm>
          <a:prstGeom prst="rect">
            <a:avLst/>
          </a:prstGeom>
          <a:solidFill>
            <a:srgbClr val="C00000"/>
          </a:solidFill>
        </p:spPr>
      </p:sp>
      <p:sp>
        <p:nvSpPr>
          <p:cNvPr id="6" name="Text 4"/>
          <p:cNvSpPr/>
          <p:nvPr/>
        </p:nvSpPr>
        <p:spPr>
          <a:xfrm>
            <a:off x="429768" y="978408"/>
            <a:ext cx="548640" cy="457200"/>
          </a:xfrm>
          <a:prstGeom prst="rect">
            <a:avLst/>
          </a:prstGeom>
          <a:noFill/>
        </p:spPr>
        <p:txBody>
          <a:bodyPr wrap="square" rtlCol="0" anchor="ctr"/>
          <a:lstStyle/>
          <a:p>
            <a:pPr marL="0" indent="0">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01</a:t>
            </a:r>
            <a:endParaRPr lang="en-US" sz="2200" dirty="0"/>
          </a:p>
        </p:txBody>
      </p:sp>
      <p:sp>
        <p:nvSpPr>
          <p:cNvPr id="7" name="Text 5"/>
          <p:cNvSpPr/>
          <p:nvPr/>
        </p:nvSpPr>
        <p:spPr>
          <a:xfrm>
            <a:off x="978408" y="987552"/>
            <a:ext cx="1874520" cy="256032"/>
          </a:xfrm>
          <a:prstGeom prst="rect">
            <a:avLst/>
          </a:prstGeom>
          <a:noFill/>
        </p:spPr>
        <p:txBody>
          <a:bodyPr wrap="square"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Logistic Regression</a:t>
            </a:r>
            <a:endParaRPr lang="en-US" sz="1200" dirty="0"/>
          </a:p>
        </p:txBody>
      </p:sp>
      <p:sp>
        <p:nvSpPr>
          <p:cNvPr id="8" name="Text 6"/>
          <p:cNvSpPr/>
          <p:nvPr/>
        </p:nvSpPr>
        <p:spPr>
          <a:xfrm>
            <a:off x="978408" y="1225296"/>
            <a:ext cx="1874520" cy="201168"/>
          </a:xfrm>
          <a:prstGeom prst="rect">
            <a:avLst/>
          </a:prstGeom>
          <a:noFill/>
        </p:spPr>
        <p:txBody>
          <a:bodyPr wrap="square" rtlCol="0" anchor="ctr"/>
          <a:lstStyle/>
          <a:p>
            <a:pPr marL="0" indent="0">
              <a:buNone/>
            </a:pPr>
            <a:r>
              <a:rPr lang="en-US" sz="1000" i="1" dirty="0">
                <a:solidFill>
                  <a:srgbClr val="D1FAE5"/>
                </a:solidFill>
                <a:latin typeface="Calibri" panose="020F0502020204030204" pitchFamily="34" charset="0"/>
                <a:ea typeface="Calibri" panose="020F0502020204030204" pitchFamily="34" charset="-122"/>
                <a:cs typeface="Calibri" panose="020F0502020204030204" pitchFamily="34" charset="-120"/>
              </a:rPr>
              <a:t>Source: Lab 04</a:t>
            </a:r>
            <a:endParaRPr lang="en-US" sz="1000" dirty="0"/>
          </a:p>
        </p:txBody>
      </p:sp>
      <p:sp>
        <p:nvSpPr>
          <p:cNvPr id="9" name="Text 7"/>
          <p:cNvSpPr/>
          <p:nvPr/>
        </p:nvSpPr>
        <p:spPr>
          <a:xfrm>
            <a:off x="429768" y="1572768"/>
            <a:ext cx="2450592" cy="914400"/>
          </a:xfrm>
          <a:prstGeom prst="rect">
            <a:avLst/>
          </a:prstGeom>
          <a:noFill/>
        </p:spPr>
        <p:txBody>
          <a:bodyPr wrap="square" lIns="91440" tIns="45720" rIns="91440" bIns="45720" rtlCol="0" anchor="ctr"/>
          <a:lstStyle/>
          <a:p>
            <a:pPr marL="0" indent="0">
              <a:buNone/>
            </a:pPr>
            <a:r>
              <a:rPr lang="en-US" sz="1100">
                <a:solidFill>
                  <a:srgbClr val="64748B"/>
                </a:solidFill>
                <a:latin typeface="Calibri" panose="020F0502020204030204"/>
                <a:ea typeface="Calibri" panose="020F0502020204030204"/>
                <a:cs typeface="Calibri" panose="020F0502020204030204"/>
              </a:rPr>
              <a:t>Linear model =strong interpretable </a:t>
            </a:r>
            <a:r>
              <a:rPr lang="en-US" sz="1100" dirty="0">
                <a:solidFill>
                  <a:srgbClr val="64748B"/>
                </a:solidFill>
                <a:latin typeface="Calibri" panose="020F0502020204030204"/>
                <a:ea typeface="Calibri" panose="020F0502020204030204"/>
                <a:cs typeface="Calibri" panose="020F0502020204030204"/>
              </a:rPr>
              <a:t>baseline for binary classification problems.</a:t>
            </a:r>
            <a:endParaRPr lang="en-US" sz="1100" dirty="0">
              <a:latin typeface="Calibri" panose="020F0502020204030204"/>
              <a:ea typeface="Calibri" panose="020F0502020204030204"/>
              <a:cs typeface="Calibri" panose="020F0502020204030204"/>
            </a:endParaRPr>
          </a:p>
        </p:txBody>
      </p:sp>
      <p:sp>
        <p:nvSpPr>
          <p:cNvPr id="10" name="Shape 8"/>
          <p:cNvSpPr/>
          <p:nvPr/>
        </p:nvSpPr>
        <p:spPr>
          <a:xfrm>
            <a:off x="429768" y="2578608"/>
            <a:ext cx="2450592" cy="36576"/>
          </a:xfrm>
          <a:prstGeom prst="rect">
            <a:avLst/>
          </a:prstGeom>
          <a:solidFill>
            <a:srgbClr val="E2E8F0"/>
          </a:solidFill>
        </p:spPr>
      </p:sp>
      <p:sp>
        <p:nvSpPr>
          <p:cNvPr id="11" name="Text 9"/>
          <p:cNvSpPr/>
          <p:nvPr/>
        </p:nvSpPr>
        <p:spPr>
          <a:xfrm>
            <a:off x="429768" y="2651760"/>
            <a:ext cx="1188720" cy="274320"/>
          </a:xfrm>
          <a:prstGeom prst="rect">
            <a:avLst/>
          </a:prstGeom>
          <a:noFill/>
        </p:spPr>
        <p:txBody>
          <a:bodyPr wrap="square" rtlCol="0" anchor="ctr"/>
          <a:lstStyle/>
          <a:p>
            <a:pPr marL="0" indent="0">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Precision</a:t>
            </a:r>
            <a:endParaRPr lang="en-US" sz="1000" dirty="0"/>
          </a:p>
        </p:txBody>
      </p:sp>
      <p:sp>
        <p:nvSpPr>
          <p:cNvPr id="12" name="Text 10"/>
          <p:cNvSpPr/>
          <p:nvPr/>
        </p:nvSpPr>
        <p:spPr>
          <a:xfrm>
            <a:off x="1600200" y="2651760"/>
            <a:ext cx="1280160" cy="274320"/>
          </a:xfrm>
          <a:prstGeom prst="rect">
            <a:avLst/>
          </a:prstGeom>
          <a:noFill/>
        </p:spPr>
        <p:txBody>
          <a:bodyPr wrap="square" rtlCol="0" anchor="ctr"/>
          <a:lstStyle/>
          <a:p>
            <a:pPr marL="0" indent="0">
              <a:buNone/>
            </a:pPr>
            <a:r>
              <a:rPr lang="en-US" sz="1000" b="1" dirty="0">
                <a:solidFill>
                  <a:srgbClr val="16A34A"/>
                </a:solidFill>
                <a:latin typeface="Calibri" panose="020F0502020204030204" pitchFamily="34" charset="0"/>
                <a:ea typeface="Calibri" panose="020F0502020204030204" pitchFamily="34" charset="-122"/>
                <a:cs typeface="Calibri" panose="020F0502020204030204" pitchFamily="34" charset="-120"/>
              </a:rPr>
              <a:t>≥ 0.3 ✓</a:t>
            </a:r>
            <a:endParaRPr lang="en-US" sz="1000" dirty="0"/>
          </a:p>
        </p:txBody>
      </p:sp>
      <p:sp>
        <p:nvSpPr>
          <p:cNvPr id="13" name="Text 11"/>
          <p:cNvSpPr/>
          <p:nvPr/>
        </p:nvSpPr>
        <p:spPr>
          <a:xfrm>
            <a:off x="429768" y="2944368"/>
            <a:ext cx="1188720" cy="274320"/>
          </a:xfrm>
          <a:prstGeom prst="rect">
            <a:avLst/>
          </a:prstGeom>
          <a:noFill/>
        </p:spPr>
        <p:txBody>
          <a:bodyPr wrap="square" rtlCol="0" anchor="ctr"/>
          <a:lstStyle/>
          <a:p>
            <a:pPr marL="0" indent="0">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Recall</a:t>
            </a:r>
            <a:endParaRPr lang="en-US" sz="1000" dirty="0"/>
          </a:p>
        </p:txBody>
      </p:sp>
      <p:sp>
        <p:nvSpPr>
          <p:cNvPr id="14" name="Text 12"/>
          <p:cNvSpPr/>
          <p:nvPr/>
        </p:nvSpPr>
        <p:spPr>
          <a:xfrm>
            <a:off x="1600200" y="2944368"/>
            <a:ext cx="1280160" cy="274320"/>
          </a:xfrm>
          <a:prstGeom prst="rect">
            <a:avLst/>
          </a:prstGeom>
          <a:noFill/>
        </p:spPr>
        <p:txBody>
          <a:bodyPr wrap="square" rtlCol="0" anchor="ctr"/>
          <a:lstStyle/>
          <a:p>
            <a:pPr marL="0" indent="0">
              <a:buNone/>
            </a:pPr>
            <a:r>
              <a:rPr lang="en-US" sz="1000" b="1" dirty="0">
                <a:solidFill>
                  <a:srgbClr val="16A34A"/>
                </a:solidFill>
                <a:latin typeface="Calibri" panose="020F0502020204030204" pitchFamily="34" charset="0"/>
                <a:ea typeface="Calibri" panose="020F0502020204030204" pitchFamily="34" charset="-122"/>
                <a:cs typeface="Calibri" panose="020F0502020204030204" pitchFamily="34" charset="-120"/>
              </a:rPr>
              <a:t>≥ 0.3 ✓</a:t>
            </a:r>
            <a:endParaRPr lang="en-US" sz="1000" dirty="0"/>
          </a:p>
        </p:txBody>
      </p:sp>
      <p:sp>
        <p:nvSpPr>
          <p:cNvPr id="15" name="Shape 13"/>
          <p:cNvSpPr/>
          <p:nvPr/>
        </p:nvSpPr>
        <p:spPr>
          <a:xfrm>
            <a:off x="3172968" y="960120"/>
            <a:ext cx="2651760" cy="3200400"/>
          </a:xfrm>
          <a:prstGeom prst="rect">
            <a:avLst/>
          </a:prstGeom>
          <a:solidFill>
            <a:srgbClr val="FFFFFF"/>
          </a:solidFill>
          <a:effectLst>
            <a:outerShdw blurRad="101600" dist="38100" dir="8100000" algn="bl" rotWithShape="0">
              <a:srgbClr val="000000">
                <a:alpha val="12000"/>
              </a:srgbClr>
            </a:outerShdw>
          </a:effectLst>
        </p:spPr>
      </p:sp>
      <p:sp>
        <p:nvSpPr>
          <p:cNvPr id="16" name="Shape 14"/>
          <p:cNvSpPr/>
          <p:nvPr/>
        </p:nvSpPr>
        <p:spPr>
          <a:xfrm>
            <a:off x="3172968" y="960120"/>
            <a:ext cx="2651760" cy="502920"/>
          </a:xfrm>
          <a:prstGeom prst="rect">
            <a:avLst/>
          </a:prstGeom>
          <a:solidFill>
            <a:srgbClr val="C00000"/>
          </a:solidFill>
        </p:spPr>
      </p:sp>
      <p:sp>
        <p:nvSpPr>
          <p:cNvPr id="17" name="Text 15"/>
          <p:cNvSpPr/>
          <p:nvPr/>
        </p:nvSpPr>
        <p:spPr>
          <a:xfrm>
            <a:off x="3282696" y="978408"/>
            <a:ext cx="548640" cy="457200"/>
          </a:xfrm>
          <a:prstGeom prst="rect">
            <a:avLst/>
          </a:prstGeom>
          <a:noFill/>
        </p:spPr>
        <p:txBody>
          <a:bodyPr wrap="square" rtlCol="0" anchor="ctr"/>
          <a:lstStyle/>
          <a:p>
            <a:pPr marL="0" indent="0">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02</a:t>
            </a:r>
            <a:endParaRPr lang="en-US" sz="2200" dirty="0"/>
          </a:p>
        </p:txBody>
      </p:sp>
      <p:sp>
        <p:nvSpPr>
          <p:cNvPr id="18" name="Text 16"/>
          <p:cNvSpPr/>
          <p:nvPr/>
        </p:nvSpPr>
        <p:spPr>
          <a:xfrm>
            <a:off x="3831336" y="987552"/>
            <a:ext cx="1874520" cy="256032"/>
          </a:xfrm>
          <a:prstGeom prst="rect">
            <a:avLst/>
          </a:prstGeom>
          <a:noFill/>
        </p:spPr>
        <p:txBody>
          <a:bodyPr wrap="square"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Random Forest</a:t>
            </a:r>
            <a:endParaRPr lang="en-US" sz="1200" dirty="0"/>
          </a:p>
        </p:txBody>
      </p:sp>
      <p:sp>
        <p:nvSpPr>
          <p:cNvPr id="19" name="Text 17"/>
          <p:cNvSpPr/>
          <p:nvPr/>
        </p:nvSpPr>
        <p:spPr>
          <a:xfrm>
            <a:off x="3831336" y="1225296"/>
            <a:ext cx="1874520" cy="201168"/>
          </a:xfrm>
          <a:prstGeom prst="rect">
            <a:avLst/>
          </a:prstGeom>
          <a:noFill/>
        </p:spPr>
        <p:txBody>
          <a:bodyPr wrap="square" rtlCol="0" anchor="ctr"/>
          <a:lstStyle/>
          <a:p>
            <a:pPr marL="0" indent="0">
              <a:buNone/>
            </a:pPr>
            <a:r>
              <a:rPr lang="en-US" sz="1000" i="1" dirty="0">
                <a:solidFill>
                  <a:srgbClr val="D1FAE5"/>
                </a:solidFill>
                <a:latin typeface="Calibri" panose="020F0502020204030204" pitchFamily="34" charset="0"/>
                <a:ea typeface="Calibri" panose="020F0502020204030204" pitchFamily="34" charset="-122"/>
                <a:cs typeface="Calibri" panose="020F0502020204030204" pitchFamily="34" charset="-120"/>
              </a:rPr>
              <a:t>Source: RF Lab</a:t>
            </a:r>
            <a:endParaRPr lang="en-US" sz="1000" dirty="0"/>
          </a:p>
        </p:txBody>
      </p:sp>
      <p:sp>
        <p:nvSpPr>
          <p:cNvPr id="20" name="Text 18"/>
          <p:cNvSpPr/>
          <p:nvPr/>
        </p:nvSpPr>
        <p:spPr>
          <a:xfrm>
            <a:off x="3282696" y="1572768"/>
            <a:ext cx="2450592" cy="914400"/>
          </a:xfrm>
          <a:prstGeom prst="rect">
            <a:avLst/>
          </a:prstGeom>
          <a:noFill/>
        </p:spPr>
        <p:txBody>
          <a:bodyPr wrap="square" lIns="91440" tIns="45720" rIns="91440" bIns="45720" rtlCol="0" anchor="ctr"/>
          <a:lstStyle/>
          <a:p>
            <a:pPr marL="0" indent="0">
              <a:buNone/>
            </a:pPr>
            <a:r>
              <a:rPr lang="en-US" sz="1100">
                <a:solidFill>
                  <a:srgbClr val="64748B"/>
                </a:solidFill>
                <a:latin typeface="Calibri" panose="020F0502020204030204"/>
                <a:ea typeface="Calibri" panose="020F0502020204030204"/>
                <a:cs typeface="Calibri" panose="020F0502020204030204"/>
              </a:rPr>
              <a:t>100 decision trees combined =robust </a:t>
            </a:r>
            <a:r>
              <a:rPr lang="en-US" sz="1100" dirty="0">
                <a:solidFill>
                  <a:srgbClr val="64748B"/>
                </a:solidFill>
                <a:latin typeface="Calibri" panose="020F0502020204030204"/>
                <a:ea typeface="Calibri" panose="020F0502020204030204"/>
                <a:cs typeface="Calibri" panose="020F0502020204030204"/>
              </a:rPr>
              <a:t>ensemble that reduces overfitting.</a:t>
            </a:r>
            <a:endParaRPr lang="en-US" sz="1100" dirty="0">
              <a:latin typeface="Calibri" panose="020F0502020204030204"/>
              <a:ea typeface="Calibri" panose="020F0502020204030204"/>
              <a:cs typeface="Calibri" panose="020F0502020204030204"/>
            </a:endParaRPr>
          </a:p>
        </p:txBody>
      </p:sp>
      <p:sp>
        <p:nvSpPr>
          <p:cNvPr id="21" name="Shape 19"/>
          <p:cNvSpPr/>
          <p:nvPr/>
        </p:nvSpPr>
        <p:spPr>
          <a:xfrm>
            <a:off x="3282696" y="2578608"/>
            <a:ext cx="2450592" cy="36576"/>
          </a:xfrm>
          <a:prstGeom prst="rect">
            <a:avLst/>
          </a:prstGeom>
          <a:solidFill>
            <a:srgbClr val="E2E8F0"/>
          </a:solidFill>
        </p:spPr>
      </p:sp>
      <p:sp>
        <p:nvSpPr>
          <p:cNvPr id="22" name="Text 20"/>
          <p:cNvSpPr/>
          <p:nvPr/>
        </p:nvSpPr>
        <p:spPr>
          <a:xfrm>
            <a:off x="3282696" y="2651760"/>
            <a:ext cx="1188720" cy="274320"/>
          </a:xfrm>
          <a:prstGeom prst="rect">
            <a:avLst/>
          </a:prstGeom>
          <a:noFill/>
        </p:spPr>
        <p:txBody>
          <a:bodyPr wrap="square" rtlCol="0" anchor="ctr"/>
          <a:lstStyle/>
          <a:p>
            <a:pPr marL="0" indent="0">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Precision</a:t>
            </a:r>
            <a:endParaRPr lang="en-US" sz="1000" dirty="0"/>
          </a:p>
        </p:txBody>
      </p:sp>
      <p:sp>
        <p:nvSpPr>
          <p:cNvPr id="23" name="Text 21"/>
          <p:cNvSpPr/>
          <p:nvPr/>
        </p:nvSpPr>
        <p:spPr>
          <a:xfrm>
            <a:off x="4453128" y="2651760"/>
            <a:ext cx="1280160" cy="274320"/>
          </a:xfrm>
          <a:prstGeom prst="rect">
            <a:avLst/>
          </a:prstGeom>
          <a:noFill/>
        </p:spPr>
        <p:txBody>
          <a:bodyPr wrap="square" rtlCol="0" anchor="ctr"/>
          <a:lstStyle/>
          <a:p>
            <a:pPr marL="0" indent="0">
              <a:buNone/>
            </a:pPr>
            <a:r>
              <a:rPr lang="en-US" sz="1000" b="1" dirty="0">
                <a:solidFill>
                  <a:srgbClr val="16A34A"/>
                </a:solidFill>
                <a:latin typeface="Calibri" panose="020F0502020204030204" pitchFamily="34" charset="0"/>
                <a:ea typeface="Calibri" panose="020F0502020204030204" pitchFamily="34" charset="-122"/>
                <a:cs typeface="Calibri" panose="020F0502020204030204" pitchFamily="34" charset="-120"/>
              </a:rPr>
              <a:t>≥ 0.3 ✓</a:t>
            </a:r>
            <a:endParaRPr lang="en-US" sz="1000" dirty="0"/>
          </a:p>
        </p:txBody>
      </p:sp>
      <p:sp>
        <p:nvSpPr>
          <p:cNvPr id="24" name="Text 22"/>
          <p:cNvSpPr/>
          <p:nvPr/>
        </p:nvSpPr>
        <p:spPr>
          <a:xfrm>
            <a:off x="3282696" y="2944368"/>
            <a:ext cx="1188720" cy="274320"/>
          </a:xfrm>
          <a:prstGeom prst="rect">
            <a:avLst/>
          </a:prstGeom>
          <a:noFill/>
        </p:spPr>
        <p:txBody>
          <a:bodyPr wrap="square" rtlCol="0" anchor="ctr"/>
          <a:lstStyle/>
          <a:p>
            <a:pPr marL="0" indent="0">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Recall</a:t>
            </a:r>
            <a:endParaRPr lang="en-US" sz="1000" dirty="0"/>
          </a:p>
        </p:txBody>
      </p:sp>
      <p:sp>
        <p:nvSpPr>
          <p:cNvPr id="25" name="Text 23"/>
          <p:cNvSpPr/>
          <p:nvPr/>
        </p:nvSpPr>
        <p:spPr>
          <a:xfrm>
            <a:off x="4453128" y="2944368"/>
            <a:ext cx="1280160" cy="274320"/>
          </a:xfrm>
          <a:prstGeom prst="rect">
            <a:avLst/>
          </a:prstGeom>
          <a:noFill/>
        </p:spPr>
        <p:txBody>
          <a:bodyPr wrap="square" rtlCol="0" anchor="ctr"/>
          <a:lstStyle/>
          <a:p>
            <a:pPr marL="0" indent="0">
              <a:buNone/>
            </a:pPr>
            <a:r>
              <a:rPr lang="en-US" sz="1000" b="1" dirty="0">
                <a:solidFill>
                  <a:srgbClr val="16A34A"/>
                </a:solidFill>
                <a:latin typeface="Calibri" panose="020F0502020204030204" pitchFamily="34" charset="0"/>
                <a:ea typeface="Calibri" panose="020F0502020204030204" pitchFamily="34" charset="-122"/>
                <a:cs typeface="Calibri" panose="020F0502020204030204" pitchFamily="34" charset="-120"/>
              </a:rPr>
              <a:t>≥ 0.3 ✓</a:t>
            </a:r>
            <a:endParaRPr lang="en-US" sz="1000" dirty="0"/>
          </a:p>
        </p:txBody>
      </p:sp>
      <p:sp>
        <p:nvSpPr>
          <p:cNvPr id="26" name="Shape 24"/>
          <p:cNvSpPr/>
          <p:nvPr/>
        </p:nvSpPr>
        <p:spPr>
          <a:xfrm>
            <a:off x="6025896" y="960120"/>
            <a:ext cx="2651760" cy="3200400"/>
          </a:xfrm>
          <a:prstGeom prst="rect">
            <a:avLst/>
          </a:prstGeom>
          <a:solidFill>
            <a:srgbClr val="FFFFFF"/>
          </a:solidFill>
          <a:effectLst>
            <a:outerShdw blurRad="101600" dist="38100" dir="8100000" algn="bl" rotWithShape="0">
              <a:srgbClr val="000000">
                <a:alpha val="12000"/>
              </a:srgbClr>
            </a:outerShdw>
          </a:effectLst>
        </p:spPr>
      </p:sp>
      <p:sp>
        <p:nvSpPr>
          <p:cNvPr id="27" name="Shape 25"/>
          <p:cNvSpPr/>
          <p:nvPr/>
        </p:nvSpPr>
        <p:spPr>
          <a:xfrm>
            <a:off x="6025896" y="960120"/>
            <a:ext cx="2651760" cy="502920"/>
          </a:xfrm>
          <a:prstGeom prst="rect">
            <a:avLst/>
          </a:prstGeom>
          <a:solidFill>
            <a:srgbClr val="C00000"/>
          </a:solidFill>
        </p:spPr>
      </p:sp>
      <p:sp>
        <p:nvSpPr>
          <p:cNvPr id="28" name="Text 26"/>
          <p:cNvSpPr/>
          <p:nvPr/>
        </p:nvSpPr>
        <p:spPr>
          <a:xfrm>
            <a:off x="6135624" y="978408"/>
            <a:ext cx="548640" cy="457200"/>
          </a:xfrm>
          <a:prstGeom prst="rect">
            <a:avLst/>
          </a:prstGeom>
          <a:noFill/>
        </p:spPr>
        <p:txBody>
          <a:bodyPr wrap="square" rtlCol="0" anchor="ctr"/>
          <a:lstStyle/>
          <a:p>
            <a:pPr marL="0" indent="0">
              <a:buNone/>
            </a:pPr>
            <a:r>
              <a:rPr lang="en-US" sz="2200" b="1" dirty="0">
                <a:solidFill>
                  <a:srgbClr val="FFFFFF"/>
                </a:solidFill>
                <a:latin typeface="Calibri" panose="020F0502020204030204" pitchFamily="34" charset="0"/>
                <a:ea typeface="Calibri" panose="020F0502020204030204" pitchFamily="34" charset="-122"/>
                <a:cs typeface="Calibri" panose="020F0502020204030204" pitchFamily="34" charset="-120"/>
              </a:rPr>
              <a:t>03</a:t>
            </a:r>
            <a:endParaRPr lang="en-US" sz="2200" dirty="0"/>
          </a:p>
        </p:txBody>
      </p:sp>
      <p:sp>
        <p:nvSpPr>
          <p:cNvPr id="29" name="Text 27"/>
          <p:cNvSpPr/>
          <p:nvPr/>
        </p:nvSpPr>
        <p:spPr>
          <a:xfrm>
            <a:off x="6684264" y="987552"/>
            <a:ext cx="1874520" cy="256032"/>
          </a:xfrm>
          <a:prstGeom prst="rect">
            <a:avLst/>
          </a:prstGeom>
          <a:noFill/>
        </p:spPr>
        <p:txBody>
          <a:bodyPr wrap="square"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SVM (RBF Kernel)</a:t>
            </a:r>
            <a:endParaRPr lang="en-US" sz="1200" dirty="0"/>
          </a:p>
        </p:txBody>
      </p:sp>
      <p:sp>
        <p:nvSpPr>
          <p:cNvPr id="30" name="Text 28"/>
          <p:cNvSpPr/>
          <p:nvPr/>
        </p:nvSpPr>
        <p:spPr>
          <a:xfrm>
            <a:off x="6684264" y="1225296"/>
            <a:ext cx="1874520" cy="201168"/>
          </a:xfrm>
          <a:prstGeom prst="rect">
            <a:avLst/>
          </a:prstGeom>
          <a:noFill/>
        </p:spPr>
        <p:txBody>
          <a:bodyPr wrap="square" rtlCol="0" anchor="ctr"/>
          <a:lstStyle/>
          <a:p>
            <a:pPr marL="0" indent="0">
              <a:buNone/>
            </a:pPr>
            <a:r>
              <a:rPr lang="en-US" sz="1000" i="1" dirty="0">
                <a:solidFill>
                  <a:srgbClr val="D1FAE5"/>
                </a:solidFill>
                <a:latin typeface="Calibri" panose="020F0502020204030204" pitchFamily="34" charset="0"/>
                <a:ea typeface="Calibri" panose="020F0502020204030204" pitchFamily="34" charset="-122"/>
                <a:cs typeface="Calibri" panose="020F0502020204030204" pitchFamily="34" charset="-120"/>
              </a:rPr>
              <a:t>Source: SVM Lab</a:t>
            </a:r>
            <a:endParaRPr lang="en-US" sz="1000" dirty="0"/>
          </a:p>
        </p:txBody>
      </p:sp>
      <p:sp>
        <p:nvSpPr>
          <p:cNvPr id="31" name="Text 29"/>
          <p:cNvSpPr/>
          <p:nvPr/>
        </p:nvSpPr>
        <p:spPr>
          <a:xfrm>
            <a:off x="6135624" y="1572768"/>
            <a:ext cx="2450592" cy="914400"/>
          </a:xfrm>
          <a:prstGeom prst="rect">
            <a:avLst/>
          </a:prstGeom>
          <a:noFill/>
        </p:spPr>
        <p:txBody>
          <a:bodyPr wrap="square" rtlCol="0" anchor="ctr"/>
          <a:lstStyle/>
          <a:p>
            <a:pPr marL="0" indent="0">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Finds the optimal boundary in high-dimensional space using radial basis function.</a:t>
            </a:r>
            <a:endParaRPr lang="en-US" sz="1100" dirty="0"/>
          </a:p>
        </p:txBody>
      </p:sp>
      <p:sp>
        <p:nvSpPr>
          <p:cNvPr id="32" name="Shape 30"/>
          <p:cNvSpPr/>
          <p:nvPr/>
        </p:nvSpPr>
        <p:spPr>
          <a:xfrm>
            <a:off x="6135624" y="2578608"/>
            <a:ext cx="2450592" cy="36576"/>
          </a:xfrm>
          <a:prstGeom prst="rect">
            <a:avLst/>
          </a:prstGeom>
          <a:solidFill>
            <a:srgbClr val="E2E8F0"/>
          </a:solidFill>
        </p:spPr>
      </p:sp>
      <p:sp>
        <p:nvSpPr>
          <p:cNvPr id="33" name="Text 31"/>
          <p:cNvSpPr/>
          <p:nvPr/>
        </p:nvSpPr>
        <p:spPr>
          <a:xfrm>
            <a:off x="6135624" y="2651760"/>
            <a:ext cx="1188720" cy="274320"/>
          </a:xfrm>
          <a:prstGeom prst="rect">
            <a:avLst/>
          </a:prstGeom>
          <a:noFill/>
        </p:spPr>
        <p:txBody>
          <a:bodyPr wrap="square" rtlCol="0" anchor="ctr"/>
          <a:lstStyle/>
          <a:p>
            <a:pPr marL="0" indent="0">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Precision</a:t>
            </a:r>
            <a:endParaRPr lang="en-US" sz="1000" dirty="0"/>
          </a:p>
        </p:txBody>
      </p:sp>
      <p:sp>
        <p:nvSpPr>
          <p:cNvPr id="34" name="Text 32"/>
          <p:cNvSpPr/>
          <p:nvPr/>
        </p:nvSpPr>
        <p:spPr>
          <a:xfrm>
            <a:off x="7306056" y="2651760"/>
            <a:ext cx="1280160" cy="274320"/>
          </a:xfrm>
          <a:prstGeom prst="rect">
            <a:avLst/>
          </a:prstGeom>
          <a:noFill/>
        </p:spPr>
        <p:txBody>
          <a:bodyPr wrap="square" rtlCol="0" anchor="ctr"/>
          <a:lstStyle/>
          <a:p>
            <a:pPr marL="0" indent="0">
              <a:buNone/>
            </a:pPr>
            <a:r>
              <a:rPr lang="en-US" sz="1000" b="1" dirty="0">
                <a:solidFill>
                  <a:srgbClr val="16A34A"/>
                </a:solidFill>
                <a:latin typeface="Calibri" panose="020F0502020204030204" pitchFamily="34" charset="0"/>
                <a:ea typeface="Calibri" panose="020F0502020204030204" pitchFamily="34" charset="-122"/>
                <a:cs typeface="Calibri" panose="020F0502020204030204" pitchFamily="34" charset="-120"/>
              </a:rPr>
              <a:t>≥ 0.3 ✓</a:t>
            </a:r>
            <a:endParaRPr lang="en-US" sz="1000" dirty="0"/>
          </a:p>
        </p:txBody>
      </p:sp>
      <p:sp>
        <p:nvSpPr>
          <p:cNvPr id="35" name="Text 33"/>
          <p:cNvSpPr/>
          <p:nvPr/>
        </p:nvSpPr>
        <p:spPr>
          <a:xfrm>
            <a:off x="6135624" y="2944368"/>
            <a:ext cx="1188720" cy="274320"/>
          </a:xfrm>
          <a:prstGeom prst="rect">
            <a:avLst/>
          </a:prstGeom>
          <a:noFill/>
        </p:spPr>
        <p:txBody>
          <a:bodyPr wrap="square" rtlCol="0" anchor="ctr"/>
          <a:lstStyle/>
          <a:p>
            <a:pPr marL="0" indent="0">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Recall</a:t>
            </a:r>
            <a:endParaRPr lang="en-US" sz="1000" dirty="0"/>
          </a:p>
        </p:txBody>
      </p:sp>
      <p:sp>
        <p:nvSpPr>
          <p:cNvPr id="36" name="Text 34"/>
          <p:cNvSpPr/>
          <p:nvPr/>
        </p:nvSpPr>
        <p:spPr>
          <a:xfrm>
            <a:off x="7306056" y="2944368"/>
            <a:ext cx="1280160" cy="274320"/>
          </a:xfrm>
          <a:prstGeom prst="rect">
            <a:avLst/>
          </a:prstGeom>
          <a:noFill/>
        </p:spPr>
        <p:txBody>
          <a:bodyPr wrap="square" rtlCol="0" anchor="ctr"/>
          <a:lstStyle/>
          <a:p>
            <a:pPr marL="0" indent="0">
              <a:buNone/>
            </a:pPr>
            <a:r>
              <a:rPr lang="en-US" sz="1000" b="1" dirty="0">
                <a:solidFill>
                  <a:srgbClr val="16A34A"/>
                </a:solidFill>
                <a:latin typeface="Calibri" panose="020F0502020204030204" pitchFamily="34" charset="0"/>
                <a:ea typeface="Calibri" panose="020F0502020204030204" pitchFamily="34" charset="-122"/>
                <a:cs typeface="Calibri" panose="020F0502020204030204" pitchFamily="34" charset="-120"/>
              </a:rPr>
              <a:t>≥ 0.3 ✓</a:t>
            </a:r>
            <a:endParaRPr lang="en-US" sz="1000" dirty="0"/>
          </a:p>
        </p:txBody>
      </p:sp>
      <p:sp>
        <p:nvSpPr>
          <p:cNvPr id="37" name="Shape 35"/>
          <p:cNvSpPr/>
          <p:nvPr/>
        </p:nvSpPr>
        <p:spPr>
          <a:xfrm>
            <a:off x="320040" y="4297680"/>
            <a:ext cx="8503920" cy="502920"/>
          </a:xfrm>
          <a:prstGeom prst="rect">
            <a:avLst/>
          </a:prstGeom>
          <a:solidFill>
            <a:srgbClr val="EFF6FF"/>
          </a:solidFill>
        </p:spPr>
      </p:sp>
      <p:sp>
        <p:nvSpPr>
          <p:cNvPr id="38" name="Text 36"/>
          <p:cNvSpPr/>
          <p:nvPr/>
        </p:nvSpPr>
        <p:spPr>
          <a:xfrm>
            <a:off x="457200" y="4297680"/>
            <a:ext cx="8321040" cy="502920"/>
          </a:xfrm>
          <a:prstGeom prst="rect">
            <a:avLst/>
          </a:prstGeom>
          <a:noFill/>
        </p:spPr>
        <p:txBody>
          <a:bodyPr wrap="square" lIns="91440" tIns="45720" rIns="91440" bIns="45720" rtlCol="0" anchor="ctr"/>
          <a:lstStyle/>
          <a:p>
            <a:r>
              <a:rPr lang="en-US" sz="1050" i="1" dirty="0">
                <a:solidFill>
                  <a:srgbClr val="1B2A4A"/>
                </a:solidFill>
                <a:latin typeface="Calibri" panose="020F0502020204030204"/>
                <a:ea typeface="Calibri" panose="020F0502020204030204"/>
                <a:cs typeface="Calibri" panose="020F0502020204030204"/>
              </a:rPr>
              <a:t>All models use </a:t>
            </a:r>
            <a:r>
              <a:rPr lang="en-US" sz="1050" i="1" dirty="0" err="1">
                <a:solidFill>
                  <a:srgbClr val="1B2A4A"/>
                </a:solidFill>
                <a:latin typeface="Calibri" panose="020F0502020204030204"/>
                <a:ea typeface="Calibri" panose="020F0502020204030204"/>
                <a:cs typeface="Calibri" panose="020F0502020204030204"/>
              </a:rPr>
              <a:t>class_weight</a:t>
            </a:r>
            <a:r>
              <a:rPr lang="en-US" sz="1050" i="1" dirty="0">
                <a:solidFill>
                  <a:srgbClr val="1B2A4A"/>
                </a:solidFill>
                <a:latin typeface="Calibri" panose="020F0502020204030204"/>
                <a:ea typeface="Calibri" panose="020F0502020204030204"/>
                <a:cs typeface="Calibri" panose="020F0502020204030204"/>
              </a:rPr>
              <a:t>='balanced' to handle the severe stroke class imbalance as without it, models would predict 'no stroke' for everyone and appear accurate but be clinically useless.</a:t>
            </a:r>
            <a:endParaRPr lang="en-US" sz="1050" dirty="0">
              <a:latin typeface="Calibri" panose="020F0502020204030204"/>
              <a:ea typeface="Calibri" panose="020F0502020204030204"/>
              <a:cs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F6FF"/>
        </a:solidFill>
        <a:effectLst/>
      </p:bgPr>
    </p:bg>
    <p:spTree>
      <p:nvGrpSpPr>
        <p:cNvPr id="1" name=""/>
        <p:cNvGrpSpPr/>
        <p:nvPr/>
      </p:nvGrpSpPr>
      <p:grpSpPr>
        <a:xfrm>
          <a:off x="0" y="0"/>
          <a:ext cx="0" cy="0"/>
          <a:chOff x="0" y="0"/>
          <a:chExt cx="0" cy="0"/>
        </a:xfrm>
      </p:grpSpPr>
      <p:sp>
        <p:nvSpPr>
          <p:cNvPr id="3" name="Text 1"/>
          <p:cNvSpPr/>
          <p:nvPr/>
        </p:nvSpPr>
        <p:spPr>
          <a:xfrm>
            <a:off x="365760" y="0"/>
            <a:ext cx="8229600" cy="822960"/>
          </a:xfrm>
          <a:prstGeom prst="rect">
            <a:avLst/>
          </a:prstGeom>
          <a:noFill/>
        </p:spPr>
        <p:txBody>
          <a:bodyPr wrap="square" lIns="91440" tIns="45720" rIns="91440" bIns="45720" rtlCol="0" anchor="ctr"/>
          <a:lstStyle/>
          <a:p>
            <a:pPr marL="0" indent="0">
              <a:buNone/>
            </a:pPr>
            <a:r>
              <a:rPr lang="en-US" sz="2400" b="1" dirty="0">
                <a:latin typeface="Calibri" panose="020F0502020204030204"/>
                <a:ea typeface="Calibri" panose="020F0502020204030204"/>
                <a:cs typeface="Calibri" panose="020F0502020204030204"/>
              </a:rPr>
              <a:t>Three Algorithms Compared</a:t>
            </a:r>
            <a:endParaRPr lang="en-US" sz="2400" dirty="0">
              <a:latin typeface="Calibri" panose="020F0502020204030204"/>
              <a:ea typeface="Calibri" panose="020F0502020204030204"/>
              <a:cs typeface="Calibri" panose="020F0502020204030204"/>
            </a:endParaRPr>
          </a:p>
        </p:txBody>
      </p:sp>
      <p:pic>
        <p:nvPicPr>
          <p:cNvPr id="39" name="Picture 38" descr="A graph with numbers and a blue square&#10;&#10;AI-generated content may be incorrect."/>
          <p:cNvPicPr>
            <a:picLocks noChangeAspect="1"/>
          </p:cNvPicPr>
          <p:nvPr/>
        </p:nvPicPr>
        <p:blipFill>
          <a:blip r:embed="rId1"/>
          <a:stretch>
            <a:fillRect/>
          </a:stretch>
        </p:blipFill>
        <p:spPr>
          <a:xfrm>
            <a:off x="184355" y="588267"/>
            <a:ext cx="8775291" cy="2381515"/>
          </a:xfrm>
          <a:prstGeom prst="rect">
            <a:avLst/>
          </a:prstGeom>
        </p:spPr>
      </p:pic>
      <p:pic>
        <p:nvPicPr>
          <p:cNvPr id="41" name="Picture 40" descr="A graph of a logistic curve&#10;&#10;AI-generated content may be incorrect."/>
          <p:cNvPicPr>
            <a:picLocks noChangeAspect="1"/>
          </p:cNvPicPr>
          <p:nvPr/>
        </p:nvPicPr>
        <p:blipFill>
          <a:blip r:embed="rId2"/>
          <a:stretch>
            <a:fillRect/>
          </a:stretch>
        </p:blipFill>
        <p:spPr>
          <a:xfrm>
            <a:off x="3221159" y="3023419"/>
            <a:ext cx="2701685" cy="212008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F6FF"/>
        </a:solidFill>
        <a:effectLst/>
      </p:bgPr>
    </p:bg>
    <p:spTree>
      <p:nvGrpSpPr>
        <p:cNvPr id="1" name=""/>
        <p:cNvGrpSpPr/>
        <p:nvPr/>
      </p:nvGrpSpPr>
      <p:grpSpPr>
        <a:xfrm>
          <a:off x="0" y="0"/>
          <a:ext cx="0" cy="0"/>
          <a:chOff x="0" y="0"/>
          <a:chExt cx="0" cy="0"/>
        </a:xfrm>
      </p:grpSpPr>
      <p:sp>
        <p:nvSpPr>
          <p:cNvPr id="3" name="Text 1"/>
          <p:cNvSpPr/>
          <p:nvPr/>
        </p:nvSpPr>
        <p:spPr>
          <a:xfrm>
            <a:off x="365760" y="0"/>
            <a:ext cx="8229600" cy="822960"/>
          </a:xfrm>
          <a:prstGeom prst="rect">
            <a:avLst/>
          </a:prstGeom>
          <a:noFill/>
        </p:spPr>
        <p:txBody>
          <a:bodyPr wrap="square" lIns="91440" tIns="45720" rIns="91440" bIns="45720" rtlCol="0" anchor="ctr"/>
          <a:lstStyle/>
          <a:p>
            <a:pPr marL="0" indent="0">
              <a:buNone/>
            </a:pPr>
            <a:r>
              <a:rPr lang="en-US" sz="2400" b="1" dirty="0">
                <a:latin typeface="Calibri" panose="020F0502020204030204"/>
                <a:ea typeface="Calibri" panose="020F0502020204030204"/>
                <a:cs typeface="Calibri" panose="020F0502020204030204"/>
              </a:rPr>
              <a:t>Tuning &amp; Validation</a:t>
            </a:r>
            <a:endParaRPr lang="en-US" sz="2400" dirty="0">
              <a:latin typeface="Calibri" panose="020F0502020204030204"/>
              <a:ea typeface="Calibri" panose="020F0502020204030204"/>
              <a:cs typeface="Calibri" panose="020F0502020204030204"/>
            </a:endParaRPr>
          </a:p>
        </p:txBody>
      </p:sp>
      <p:sp>
        <p:nvSpPr>
          <p:cNvPr id="4" name="Shape 2"/>
          <p:cNvSpPr/>
          <p:nvPr/>
        </p:nvSpPr>
        <p:spPr>
          <a:xfrm>
            <a:off x="320040" y="960120"/>
            <a:ext cx="4160520" cy="3840480"/>
          </a:xfrm>
          <a:prstGeom prst="rect">
            <a:avLst/>
          </a:prstGeom>
          <a:solidFill>
            <a:srgbClr val="FFFFFF"/>
          </a:solidFill>
          <a:effectLst>
            <a:outerShdw blurRad="101600" dist="38100" dir="8100000" algn="bl" rotWithShape="0">
              <a:srgbClr val="000000">
                <a:alpha val="12000"/>
              </a:srgbClr>
            </a:outerShdw>
          </a:effectLst>
        </p:spPr>
      </p:sp>
      <p:sp>
        <p:nvSpPr>
          <p:cNvPr id="5" name="Shape 3"/>
          <p:cNvSpPr/>
          <p:nvPr/>
        </p:nvSpPr>
        <p:spPr>
          <a:xfrm>
            <a:off x="320040" y="960120"/>
            <a:ext cx="4160520" cy="73152"/>
          </a:xfrm>
          <a:prstGeom prst="rect">
            <a:avLst/>
          </a:prstGeom>
          <a:solidFill>
            <a:srgbClr val="C00000"/>
          </a:solidFill>
        </p:spPr>
      </p:sp>
      <p:sp>
        <p:nvSpPr>
          <p:cNvPr id="7" name="Text 4"/>
          <p:cNvSpPr/>
          <p:nvPr/>
        </p:nvSpPr>
        <p:spPr>
          <a:xfrm>
            <a:off x="960120" y="1051560"/>
            <a:ext cx="3383280" cy="457200"/>
          </a:xfrm>
          <a:prstGeom prst="rect">
            <a:avLst/>
          </a:prstGeom>
          <a:noFill/>
        </p:spPr>
        <p:txBody>
          <a:bodyPr wrap="square" rtlCol="0" anchor="ctr"/>
          <a:lstStyle/>
          <a:p>
            <a:pPr marL="0" indent="0">
              <a:buNone/>
            </a:pPr>
            <a:r>
              <a:rPr lang="en-US" sz="1300" b="1" dirty="0">
                <a:solidFill>
                  <a:srgbClr val="1B2A4A"/>
                </a:solidFill>
                <a:latin typeface="Calibri" panose="020F0502020204030204" pitchFamily="34" charset="0"/>
                <a:ea typeface="Calibri" panose="020F0502020204030204" pitchFamily="34" charset="-122"/>
                <a:cs typeface="Calibri" panose="020F0502020204030204" pitchFamily="34" charset="-120"/>
              </a:rPr>
              <a:t>GridSearchCV — Random Forest</a:t>
            </a:r>
            <a:endParaRPr lang="en-US" sz="1300" dirty="0"/>
          </a:p>
        </p:txBody>
      </p:sp>
      <p:sp>
        <p:nvSpPr>
          <p:cNvPr id="8" name="Text 5"/>
          <p:cNvSpPr/>
          <p:nvPr/>
        </p:nvSpPr>
        <p:spPr>
          <a:xfrm>
            <a:off x="457200" y="1572768"/>
            <a:ext cx="3840480" cy="292608"/>
          </a:xfrm>
          <a:prstGeom prst="rect">
            <a:avLst/>
          </a:prstGeom>
          <a:noFill/>
        </p:spPr>
        <p:txBody>
          <a:bodyPr wrap="square" rtlCol="0" anchor="ctr"/>
          <a:lstStyle/>
          <a:p>
            <a:pPr marL="0" indent="0">
              <a:buNone/>
            </a:pPr>
            <a:r>
              <a:rPr lang="en-US" sz="1100" b="1" dirty="0">
                <a:solidFill>
                  <a:srgbClr val="64748B"/>
                </a:solidFill>
                <a:latin typeface="Calibri" panose="020F0502020204030204" pitchFamily="34" charset="0"/>
                <a:ea typeface="Calibri" panose="020F0502020204030204" pitchFamily="34" charset="-122"/>
                <a:cs typeface="Calibri" panose="020F0502020204030204" pitchFamily="34" charset="-120"/>
              </a:rPr>
              <a:t>Parameter Grid:</a:t>
            </a:r>
            <a:endParaRPr lang="en-US" sz="1100" dirty="0"/>
          </a:p>
        </p:txBody>
      </p:sp>
      <p:sp>
        <p:nvSpPr>
          <p:cNvPr id="9" name="Shape 6"/>
          <p:cNvSpPr/>
          <p:nvPr/>
        </p:nvSpPr>
        <p:spPr>
          <a:xfrm>
            <a:off x="457200" y="1901952"/>
            <a:ext cx="3840480" cy="292608"/>
          </a:xfrm>
          <a:prstGeom prst="rect">
            <a:avLst/>
          </a:prstGeom>
          <a:solidFill>
            <a:srgbClr val="F0F6FF"/>
          </a:solidFill>
        </p:spPr>
      </p:sp>
      <p:sp>
        <p:nvSpPr>
          <p:cNvPr id="10" name="Text 7"/>
          <p:cNvSpPr/>
          <p:nvPr/>
        </p:nvSpPr>
        <p:spPr>
          <a:xfrm>
            <a:off x="566928" y="1901952"/>
            <a:ext cx="3657600" cy="292608"/>
          </a:xfrm>
          <a:prstGeom prst="rect">
            <a:avLst/>
          </a:prstGeom>
          <a:noFill/>
        </p:spPr>
        <p:txBody>
          <a:bodyPr wrap="square" rtlCol="0" anchor="ctr"/>
          <a:lstStyle/>
          <a:p>
            <a:pPr marL="0" indent="0">
              <a:buNone/>
            </a:pPr>
            <a:r>
              <a:rPr lang="en-US" sz="1100" dirty="0">
                <a:solidFill>
                  <a:srgbClr val="1B2A4A"/>
                </a:solidFill>
                <a:latin typeface="Consolas" panose="020B0609020204030204" pitchFamily="34" charset="0"/>
                <a:ea typeface="Consolas" panose="020B0609020204030204" pitchFamily="34" charset="-122"/>
                <a:cs typeface="Consolas" panose="020B0609020204030204" pitchFamily="34" charset="-120"/>
              </a:rPr>
              <a:t>n_estimators : [50, 100, 200]</a:t>
            </a:r>
            <a:endParaRPr lang="en-US" sz="1100" dirty="0"/>
          </a:p>
        </p:txBody>
      </p:sp>
      <p:sp>
        <p:nvSpPr>
          <p:cNvPr id="11" name="Shape 8"/>
          <p:cNvSpPr/>
          <p:nvPr/>
        </p:nvSpPr>
        <p:spPr>
          <a:xfrm>
            <a:off x="457200" y="2249424"/>
            <a:ext cx="3840480" cy="292608"/>
          </a:xfrm>
          <a:prstGeom prst="rect">
            <a:avLst/>
          </a:prstGeom>
          <a:solidFill>
            <a:srgbClr val="F0F6FF"/>
          </a:solidFill>
        </p:spPr>
      </p:sp>
      <p:sp>
        <p:nvSpPr>
          <p:cNvPr id="12" name="Text 9"/>
          <p:cNvSpPr/>
          <p:nvPr/>
        </p:nvSpPr>
        <p:spPr>
          <a:xfrm>
            <a:off x="566928" y="2249424"/>
            <a:ext cx="3657600" cy="292608"/>
          </a:xfrm>
          <a:prstGeom prst="rect">
            <a:avLst/>
          </a:prstGeom>
          <a:noFill/>
        </p:spPr>
        <p:txBody>
          <a:bodyPr wrap="square" rtlCol="0" anchor="ctr"/>
          <a:lstStyle/>
          <a:p>
            <a:pPr marL="0" indent="0">
              <a:buNone/>
            </a:pPr>
            <a:r>
              <a:rPr lang="en-US" sz="1100" dirty="0">
                <a:solidFill>
                  <a:srgbClr val="1B2A4A"/>
                </a:solidFill>
                <a:latin typeface="Consolas" panose="020B0609020204030204" pitchFamily="34" charset="0"/>
                <a:ea typeface="Consolas" panose="020B0609020204030204" pitchFamily="34" charset="-122"/>
                <a:cs typeface="Consolas" panose="020B0609020204030204" pitchFamily="34" charset="-120"/>
              </a:rPr>
              <a:t>max_depth     : [None, 5, 10]</a:t>
            </a:r>
            <a:endParaRPr lang="en-US" sz="1100" dirty="0"/>
          </a:p>
        </p:txBody>
      </p:sp>
      <p:sp>
        <p:nvSpPr>
          <p:cNvPr id="13" name="Shape 10"/>
          <p:cNvSpPr/>
          <p:nvPr/>
        </p:nvSpPr>
        <p:spPr>
          <a:xfrm>
            <a:off x="457200" y="2596896"/>
            <a:ext cx="3840480" cy="292608"/>
          </a:xfrm>
          <a:prstGeom prst="rect">
            <a:avLst/>
          </a:prstGeom>
          <a:solidFill>
            <a:srgbClr val="F0F6FF"/>
          </a:solidFill>
        </p:spPr>
      </p:sp>
      <p:sp>
        <p:nvSpPr>
          <p:cNvPr id="14" name="Text 11"/>
          <p:cNvSpPr/>
          <p:nvPr/>
        </p:nvSpPr>
        <p:spPr>
          <a:xfrm>
            <a:off x="566928" y="2596896"/>
            <a:ext cx="3657600" cy="292608"/>
          </a:xfrm>
          <a:prstGeom prst="rect">
            <a:avLst/>
          </a:prstGeom>
          <a:noFill/>
        </p:spPr>
        <p:txBody>
          <a:bodyPr wrap="square" rtlCol="0" anchor="ctr"/>
          <a:lstStyle/>
          <a:p>
            <a:pPr marL="0" indent="0">
              <a:buNone/>
            </a:pPr>
            <a:r>
              <a:rPr lang="en-US" sz="1100" dirty="0">
                <a:solidFill>
                  <a:srgbClr val="1B2A4A"/>
                </a:solidFill>
                <a:latin typeface="Consolas" panose="020B0609020204030204" pitchFamily="34" charset="0"/>
                <a:ea typeface="Consolas" panose="020B0609020204030204" pitchFamily="34" charset="-122"/>
                <a:cs typeface="Consolas" panose="020B0609020204030204" pitchFamily="34" charset="-120"/>
              </a:rPr>
              <a:t>max_features  : [sqrt, log2]</a:t>
            </a:r>
            <a:endParaRPr lang="en-US" sz="1100" dirty="0"/>
          </a:p>
        </p:txBody>
      </p:sp>
      <p:sp>
        <p:nvSpPr>
          <p:cNvPr id="15" name="Text 12"/>
          <p:cNvSpPr/>
          <p:nvPr/>
        </p:nvSpPr>
        <p:spPr>
          <a:xfrm>
            <a:off x="457200" y="2999232"/>
            <a:ext cx="3840480" cy="320040"/>
          </a:xfrm>
          <a:prstGeom prst="rect">
            <a:avLst/>
          </a:prstGeom>
          <a:noFill/>
        </p:spPr>
        <p:txBody>
          <a:bodyPr wrap="square" rtlCol="0" anchor="ctr"/>
          <a:lstStyle/>
          <a:p>
            <a:pPr marL="0" indent="0">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CV: 5-fold Stratified  |  Scoring: ROC-AUC</a:t>
            </a:r>
            <a:endParaRPr lang="en-US" sz="1100" dirty="0"/>
          </a:p>
        </p:txBody>
      </p:sp>
      <p:sp>
        <p:nvSpPr>
          <p:cNvPr id="16" name="Shape 13"/>
          <p:cNvSpPr/>
          <p:nvPr/>
        </p:nvSpPr>
        <p:spPr>
          <a:xfrm>
            <a:off x="457200" y="3383280"/>
            <a:ext cx="3840480" cy="548640"/>
          </a:xfrm>
          <a:prstGeom prst="rect">
            <a:avLst/>
          </a:prstGeom>
          <a:solidFill>
            <a:schemeClr val="tx2">
              <a:lumMod val="75000"/>
            </a:schemeClr>
          </a:solidFill>
        </p:spPr>
      </p:sp>
      <p:sp>
        <p:nvSpPr>
          <p:cNvPr id="17" name="Text 14"/>
          <p:cNvSpPr/>
          <p:nvPr/>
        </p:nvSpPr>
        <p:spPr>
          <a:xfrm>
            <a:off x="566928" y="3383280"/>
            <a:ext cx="3657600" cy="548640"/>
          </a:xfrm>
          <a:prstGeom prst="rect">
            <a:avLst/>
          </a:prstGeom>
          <a:noFill/>
        </p:spPr>
        <p:txBody>
          <a:bodyPr wrap="square" lIns="91440" tIns="45720" rIns="91440" bIns="45720" rtlCol="0" anchor="ctr"/>
          <a:lstStyle/>
          <a:p>
            <a:r>
              <a:rPr lang="en-US" sz="1000" i="1" dirty="0" err="1">
                <a:solidFill>
                  <a:srgbClr val="BAE6FD"/>
                </a:solidFill>
                <a:latin typeface="Calibri" panose="020F0502020204030204"/>
                <a:ea typeface="Calibri" panose="020F0502020204030204"/>
                <a:cs typeface="Calibri" panose="020F0502020204030204"/>
              </a:rPr>
              <a:t>Rrong</a:t>
            </a:r>
            <a:r>
              <a:rPr lang="en-US" sz="1000" i="1" dirty="0">
                <a:solidFill>
                  <a:srgbClr val="BAE6FD"/>
                </a:solidFill>
                <a:latin typeface="Calibri" panose="020F0502020204030204"/>
                <a:ea typeface="Calibri" panose="020F0502020204030204"/>
                <a:cs typeface="Calibri" panose="020F0502020204030204"/>
              </a:rPr>
              <a:t> hyperparameters cause overfitting or underfitting = </a:t>
            </a:r>
            <a:r>
              <a:rPr lang="en-US" sz="1000" i="1" dirty="0" err="1">
                <a:solidFill>
                  <a:srgbClr val="BAE6FD"/>
                </a:solidFill>
                <a:latin typeface="Calibri" panose="020F0502020204030204"/>
                <a:ea typeface="Calibri" panose="020F0502020204030204"/>
                <a:cs typeface="Calibri" panose="020F0502020204030204"/>
              </a:rPr>
              <a:t>GridSearchCV</a:t>
            </a:r>
            <a:r>
              <a:rPr lang="en-US" sz="1000" i="1" dirty="0">
                <a:solidFill>
                  <a:srgbClr val="BAE6FD"/>
                </a:solidFill>
                <a:latin typeface="Calibri" panose="020F0502020204030204"/>
                <a:ea typeface="Calibri" panose="020F0502020204030204"/>
                <a:cs typeface="Calibri" panose="020F0502020204030204"/>
              </a:rPr>
              <a:t> finds the best combination systematically.</a:t>
            </a:r>
            <a:endParaRPr lang="en-US" sz="1000" dirty="0">
              <a:latin typeface="Calibri" panose="020F0502020204030204"/>
              <a:ea typeface="Calibri" panose="020F0502020204030204"/>
              <a:cs typeface="Calibri" panose="020F0502020204030204"/>
            </a:endParaRPr>
          </a:p>
        </p:txBody>
      </p:sp>
      <p:sp>
        <p:nvSpPr>
          <p:cNvPr id="18" name="Shape 15"/>
          <p:cNvSpPr/>
          <p:nvPr/>
        </p:nvSpPr>
        <p:spPr>
          <a:xfrm>
            <a:off x="4663440" y="960120"/>
            <a:ext cx="4160520" cy="3840480"/>
          </a:xfrm>
          <a:prstGeom prst="rect">
            <a:avLst/>
          </a:prstGeom>
          <a:solidFill>
            <a:srgbClr val="FFFFFF"/>
          </a:solidFill>
          <a:effectLst>
            <a:outerShdw blurRad="101600" dist="38100" dir="8100000" algn="bl" rotWithShape="0">
              <a:srgbClr val="000000">
                <a:alpha val="12000"/>
              </a:srgbClr>
            </a:outerShdw>
          </a:effectLst>
        </p:spPr>
      </p:sp>
      <p:sp>
        <p:nvSpPr>
          <p:cNvPr id="19" name="Shape 16"/>
          <p:cNvSpPr/>
          <p:nvPr/>
        </p:nvSpPr>
        <p:spPr>
          <a:xfrm>
            <a:off x="4663440" y="960120"/>
            <a:ext cx="4160520" cy="73152"/>
          </a:xfrm>
          <a:prstGeom prst="rect">
            <a:avLst/>
          </a:prstGeom>
          <a:solidFill>
            <a:srgbClr val="C00000"/>
          </a:solidFill>
        </p:spPr>
      </p:sp>
      <p:sp>
        <p:nvSpPr>
          <p:cNvPr id="21" name="Text 17"/>
          <p:cNvSpPr/>
          <p:nvPr/>
        </p:nvSpPr>
        <p:spPr>
          <a:xfrm>
            <a:off x="5303520" y="1051560"/>
            <a:ext cx="3383280" cy="457200"/>
          </a:xfrm>
          <a:prstGeom prst="rect">
            <a:avLst/>
          </a:prstGeom>
          <a:noFill/>
        </p:spPr>
        <p:txBody>
          <a:bodyPr wrap="square" rtlCol="0" anchor="ctr"/>
          <a:lstStyle/>
          <a:p>
            <a:pPr marL="0" indent="0">
              <a:buNone/>
            </a:pPr>
            <a:r>
              <a:rPr lang="en-US" sz="1300" b="1" dirty="0">
                <a:solidFill>
                  <a:srgbClr val="1B2A4A"/>
                </a:solidFill>
                <a:latin typeface="Calibri" panose="020F0502020204030204" pitchFamily="34" charset="0"/>
                <a:ea typeface="Calibri" panose="020F0502020204030204" pitchFamily="34" charset="-122"/>
                <a:cs typeface="Calibri" panose="020F0502020204030204" pitchFamily="34" charset="-120"/>
              </a:rPr>
              <a:t>10-Fold Stratified Cross-Validation</a:t>
            </a:r>
            <a:endParaRPr lang="en-US" sz="1300" dirty="0"/>
          </a:p>
        </p:txBody>
      </p:sp>
      <p:sp>
        <p:nvSpPr>
          <p:cNvPr id="22" name="Text 18"/>
          <p:cNvSpPr/>
          <p:nvPr/>
        </p:nvSpPr>
        <p:spPr>
          <a:xfrm>
            <a:off x="4800600" y="1572768"/>
            <a:ext cx="3840480" cy="292608"/>
          </a:xfrm>
          <a:prstGeom prst="rect">
            <a:avLst/>
          </a:prstGeom>
          <a:noFill/>
        </p:spPr>
        <p:txBody>
          <a:bodyPr wrap="square" rtlCol="0" anchor="ctr"/>
          <a:lstStyle/>
          <a:p>
            <a:pPr marL="0" indent="0">
              <a:buNone/>
            </a:pPr>
            <a:r>
              <a:rPr lang="en-US" sz="1100" b="1" dirty="0">
                <a:solidFill>
                  <a:srgbClr val="64748B"/>
                </a:solidFill>
                <a:latin typeface="Calibri" panose="020F0502020204030204" pitchFamily="34" charset="0"/>
                <a:ea typeface="Calibri" panose="020F0502020204030204" pitchFamily="34" charset="-122"/>
                <a:cs typeface="Calibri" panose="020F0502020204030204" pitchFamily="34" charset="-120"/>
              </a:rPr>
              <a:t>Metrics across 10 folds:</a:t>
            </a:r>
            <a:endParaRPr lang="en-US" sz="1100" dirty="0"/>
          </a:p>
        </p:txBody>
      </p:sp>
      <p:sp>
        <p:nvSpPr>
          <p:cNvPr id="23" name="Shape 19"/>
          <p:cNvSpPr/>
          <p:nvPr/>
        </p:nvSpPr>
        <p:spPr>
          <a:xfrm>
            <a:off x="4800600" y="1901952"/>
            <a:ext cx="3840480" cy="384048"/>
          </a:xfrm>
          <a:prstGeom prst="rect">
            <a:avLst/>
          </a:prstGeom>
          <a:solidFill>
            <a:srgbClr val="F0F6FF"/>
          </a:solidFill>
        </p:spPr>
      </p:sp>
      <p:sp>
        <p:nvSpPr>
          <p:cNvPr id="24" name="Shape 20"/>
          <p:cNvSpPr/>
          <p:nvPr/>
        </p:nvSpPr>
        <p:spPr>
          <a:xfrm>
            <a:off x="4800600" y="1901952"/>
            <a:ext cx="54864" cy="384048"/>
          </a:xfrm>
          <a:prstGeom prst="rect">
            <a:avLst/>
          </a:prstGeom>
          <a:solidFill>
            <a:schemeClr val="tx2">
              <a:lumMod val="40000"/>
              <a:lumOff val="60000"/>
            </a:schemeClr>
          </a:solidFill>
        </p:spPr>
      </p:sp>
      <p:sp>
        <p:nvSpPr>
          <p:cNvPr id="25" name="Text 21"/>
          <p:cNvSpPr/>
          <p:nvPr/>
        </p:nvSpPr>
        <p:spPr>
          <a:xfrm>
            <a:off x="4919472" y="1901952"/>
            <a:ext cx="1828800" cy="384048"/>
          </a:xfrm>
          <a:prstGeom prst="rect">
            <a:avLst/>
          </a:prstGeom>
          <a:noFill/>
        </p:spPr>
        <p:txBody>
          <a:bodyPr wrap="square" rtlCol="0" anchor="ctr"/>
          <a:lstStyle/>
          <a:p>
            <a:pPr marL="0" indent="0">
              <a:buNone/>
            </a:pPr>
            <a:r>
              <a:rPr lang="en-US" sz="1200" b="1" dirty="0">
                <a:solidFill>
                  <a:srgbClr val="1B2A4A"/>
                </a:solidFill>
                <a:latin typeface="Calibri" panose="020F0502020204030204" pitchFamily="34" charset="0"/>
                <a:ea typeface="Calibri" panose="020F0502020204030204" pitchFamily="34" charset="-122"/>
                <a:cs typeface="Calibri" panose="020F0502020204030204" pitchFamily="34" charset="-120"/>
              </a:rPr>
              <a:t>Accuracy</a:t>
            </a:r>
            <a:endParaRPr lang="en-US" sz="1200" dirty="0"/>
          </a:p>
        </p:txBody>
      </p:sp>
      <p:sp>
        <p:nvSpPr>
          <p:cNvPr id="26" name="Text 22"/>
          <p:cNvSpPr/>
          <p:nvPr/>
        </p:nvSpPr>
        <p:spPr>
          <a:xfrm>
            <a:off x="6720840" y="1901952"/>
            <a:ext cx="1828800" cy="384048"/>
          </a:xfrm>
          <a:prstGeom prst="rect">
            <a:avLst/>
          </a:prstGeom>
          <a:noFill/>
        </p:spPr>
        <p:txBody>
          <a:bodyPr wrap="square" rtlCol="0" anchor="ctr"/>
          <a:lstStyle/>
          <a:p>
            <a:pPr marL="0" indent="0">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Mean + Std reported</a:t>
            </a:r>
            <a:endParaRPr lang="en-US" sz="1000" dirty="0"/>
          </a:p>
        </p:txBody>
      </p:sp>
      <p:sp>
        <p:nvSpPr>
          <p:cNvPr id="27" name="Shape 23"/>
          <p:cNvSpPr/>
          <p:nvPr/>
        </p:nvSpPr>
        <p:spPr>
          <a:xfrm>
            <a:off x="4800600" y="2377440"/>
            <a:ext cx="3840480" cy="384048"/>
          </a:xfrm>
          <a:prstGeom prst="rect">
            <a:avLst/>
          </a:prstGeom>
          <a:solidFill>
            <a:srgbClr val="F0F6FF"/>
          </a:solidFill>
        </p:spPr>
      </p:sp>
      <p:sp>
        <p:nvSpPr>
          <p:cNvPr id="28" name="Shape 24"/>
          <p:cNvSpPr/>
          <p:nvPr/>
        </p:nvSpPr>
        <p:spPr>
          <a:xfrm>
            <a:off x="4800600" y="2377440"/>
            <a:ext cx="54864" cy="384048"/>
          </a:xfrm>
          <a:prstGeom prst="rect">
            <a:avLst/>
          </a:prstGeom>
          <a:solidFill>
            <a:schemeClr val="tx2">
              <a:lumMod val="40000"/>
              <a:lumOff val="60000"/>
            </a:schemeClr>
          </a:solidFill>
        </p:spPr>
      </p:sp>
      <p:sp>
        <p:nvSpPr>
          <p:cNvPr id="29" name="Text 25"/>
          <p:cNvSpPr/>
          <p:nvPr/>
        </p:nvSpPr>
        <p:spPr>
          <a:xfrm>
            <a:off x="4919472" y="2377440"/>
            <a:ext cx="1828800" cy="384048"/>
          </a:xfrm>
          <a:prstGeom prst="rect">
            <a:avLst/>
          </a:prstGeom>
          <a:noFill/>
        </p:spPr>
        <p:txBody>
          <a:bodyPr wrap="square" rtlCol="0" anchor="ctr"/>
          <a:lstStyle/>
          <a:p>
            <a:pPr marL="0" indent="0">
              <a:buNone/>
            </a:pPr>
            <a:r>
              <a:rPr lang="en-US" sz="1200" b="1" dirty="0">
                <a:solidFill>
                  <a:srgbClr val="1B2A4A"/>
                </a:solidFill>
                <a:latin typeface="Calibri" panose="020F0502020204030204" pitchFamily="34" charset="0"/>
                <a:ea typeface="Calibri" panose="020F0502020204030204" pitchFamily="34" charset="-122"/>
                <a:cs typeface="Calibri" panose="020F0502020204030204" pitchFamily="34" charset="-120"/>
              </a:rPr>
              <a:t>ROC-AUC</a:t>
            </a:r>
            <a:endParaRPr lang="en-US" sz="1200" dirty="0"/>
          </a:p>
        </p:txBody>
      </p:sp>
      <p:sp>
        <p:nvSpPr>
          <p:cNvPr id="30" name="Text 26"/>
          <p:cNvSpPr/>
          <p:nvPr/>
        </p:nvSpPr>
        <p:spPr>
          <a:xfrm>
            <a:off x="6720840" y="2377440"/>
            <a:ext cx="1828800" cy="384048"/>
          </a:xfrm>
          <a:prstGeom prst="rect">
            <a:avLst/>
          </a:prstGeom>
          <a:noFill/>
        </p:spPr>
        <p:txBody>
          <a:bodyPr wrap="square" rtlCol="0" anchor="ctr"/>
          <a:lstStyle/>
          <a:p>
            <a:pPr marL="0" indent="0">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Mean + Std reported</a:t>
            </a:r>
            <a:endParaRPr lang="en-US" sz="1000" dirty="0"/>
          </a:p>
        </p:txBody>
      </p:sp>
      <p:sp>
        <p:nvSpPr>
          <p:cNvPr id="31" name="Shape 27"/>
          <p:cNvSpPr/>
          <p:nvPr/>
        </p:nvSpPr>
        <p:spPr>
          <a:xfrm>
            <a:off x="4800600" y="2852928"/>
            <a:ext cx="3840480" cy="384048"/>
          </a:xfrm>
          <a:prstGeom prst="rect">
            <a:avLst/>
          </a:prstGeom>
          <a:solidFill>
            <a:srgbClr val="F0F6FF"/>
          </a:solidFill>
        </p:spPr>
      </p:sp>
      <p:sp>
        <p:nvSpPr>
          <p:cNvPr id="32" name="Shape 28"/>
          <p:cNvSpPr/>
          <p:nvPr/>
        </p:nvSpPr>
        <p:spPr>
          <a:xfrm>
            <a:off x="4800600" y="2852928"/>
            <a:ext cx="54864" cy="384048"/>
          </a:xfrm>
          <a:prstGeom prst="rect">
            <a:avLst/>
          </a:prstGeom>
          <a:solidFill>
            <a:schemeClr val="tx2">
              <a:lumMod val="40000"/>
              <a:lumOff val="60000"/>
            </a:schemeClr>
          </a:solidFill>
        </p:spPr>
      </p:sp>
      <p:sp>
        <p:nvSpPr>
          <p:cNvPr id="33" name="Text 29"/>
          <p:cNvSpPr/>
          <p:nvPr/>
        </p:nvSpPr>
        <p:spPr>
          <a:xfrm>
            <a:off x="4919472" y="2852928"/>
            <a:ext cx="1828800" cy="384048"/>
          </a:xfrm>
          <a:prstGeom prst="rect">
            <a:avLst/>
          </a:prstGeom>
          <a:noFill/>
        </p:spPr>
        <p:txBody>
          <a:bodyPr wrap="square" rtlCol="0" anchor="ctr"/>
          <a:lstStyle/>
          <a:p>
            <a:pPr marL="0" indent="0">
              <a:buNone/>
            </a:pPr>
            <a:r>
              <a:rPr lang="en-US" sz="1200" b="1" dirty="0">
                <a:solidFill>
                  <a:srgbClr val="1B2A4A"/>
                </a:solidFill>
                <a:latin typeface="Calibri" panose="020F0502020204030204" pitchFamily="34" charset="0"/>
                <a:ea typeface="Calibri" panose="020F0502020204030204" pitchFamily="34" charset="-122"/>
                <a:cs typeface="Calibri" panose="020F0502020204030204" pitchFamily="34" charset="-120"/>
              </a:rPr>
              <a:t>Recall</a:t>
            </a:r>
            <a:endParaRPr lang="en-US" sz="1200" dirty="0"/>
          </a:p>
        </p:txBody>
      </p:sp>
      <p:sp>
        <p:nvSpPr>
          <p:cNvPr id="34" name="Text 30"/>
          <p:cNvSpPr/>
          <p:nvPr/>
        </p:nvSpPr>
        <p:spPr>
          <a:xfrm>
            <a:off x="6720840" y="2852928"/>
            <a:ext cx="1828800" cy="384048"/>
          </a:xfrm>
          <a:prstGeom prst="rect">
            <a:avLst/>
          </a:prstGeom>
          <a:noFill/>
        </p:spPr>
        <p:txBody>
          <a:bodyPr wrap="square" rtlCol="0" anchor="ctr"/>
          <a:lstStyle/>
          <a:p>
            <a:pPr marL="0" indent="0">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Mean + Std reported</a:t>
            </a:r>
            <a:endParaRPr lang="en-US" sz="1000" dirty="0"/>
          </a:p>
        </p:txBody>
      </p:sp>
      <p:sp>
        <p:nvSpPr>
          <p:cNvPr id="35" name="Shape 31"/>
          <p:cNvSpPr/>
          <p:nvPr/>
        </p:nvSpPr>
        <p:spPr>
          <a:xfrm>
            <a:off x="4800600" y="3383280"/>
            <a:ext cx="3840480" cy="548640"/>
          </a:xfrm>
          <a:prstGeom prst="rect">
            <a:avLst/>
          </a:prstGeom>
          <a:solidFill>
            <a:srgbClr val="1B2A4A"/>
          </a:solidFill>
        </p:spPr>
      </p:sp>
      <p:sp>
        <p:nvSpPr>
          <p:cNvPr id="36" name="Text 32"/>
          <p:cNvSpPr/>
          <p:nvPr/>
        </p:nvSpPr>
        <p:spPr>
          <a:xfrm>
            <a:off x="4910328" y="3383280"/>
            <a:ext cx="3657600" cy="548640"/>
          </a:xfrm>
          <a:prstGeom prst="rect">
            <a:avLst/>
          </a:prstGeom>
          <a:solidFill>
            <a:schemeClr val="tx2">
              <a:lumMod val="75000"/>
            </a:schemeClr>
          </a:solidFill>
        </p:spPr>
        <p:txBody>
          <a:bodyPr wrap="square" lIns="91440" tIns="45720" rIns="91440" bIns="45720" rtlCol="0" anchor="ctr"/>
          <a:lstStyle/>
          <a:p>
            <a:r>
              <a:rPr lang="en-US" sz="1000" i="1">
                <a:solidFill>
                  <a:srgbClr val="BAE6FD"/>
                </a:solidFill>
                <a:latin typeface="Calibri" panose="020F0502020204030204"/>
                <a:ea typeface="Calibri" panose="020F0502020204030204"/>
                <a:cs typeface="Calibri" panose="020F0502020204030204"/>
              </a:rPr>
              <a:t>A single train-test split can be misleading. 10-fold </a:t>
            </a:r>
            <a:r>
              <a:rPr lang="en-US" sz="1000" i="1" dirty="0">
                <a:solidFill>
                  <a:srgbClr val="BAE6FD"/>
                </a:solidFill>
                <a:latin typeface="Calibri" panose="020F0502020204030204"/>
                <a:ea typeface="Calibri" panose="020F0502020204030204"/>
                <a:cs typeface="Calibri" panose="020F0502020204030204"/>
              </a:rPr>
              <a:t>CV gives a more reliable, unbiased estimate of real-world performance.</a:t>
            </a:r>
            <a:endParaRPr lang="en-US" sz="1000" dirty="0">
              <a:latin typeface="Calibri" panose="020F0502020204030204"/>
              <a:ea typeface="Calibri" panose="020F0502020204030204"/>
              <a:cs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F6FF"/>
        </a:solidFill>
        <a:effectLst/>
      </p:bgPr>
    </p:bg>
    <p:spTree>
      <p:nvGrpSpPr>
        <p:cNvPr id="1" name=""/>
        <p:cNvGrpSpPr/>
        <p:nvPr/>
      </p:nvGrpSpPr>
      <p:grpSpPr>
        <a:xfrm>
          <a:off x="0" y="0"/>
          <a:ext cx="0" cy="0"/>
          <a:chOff x="0" y="0"/>
          <a:chExt cx="0" cy="0"/>
        </a:xfrm>
      </p:grpSpPr>
      <p:sp>
        <p:nvSpPr>
          <p:cNvPr id="3" name="Text 1"/>
          <p:cNvSpPr/>
          <p:nvPr/>
        </p:nvSpPr>
        <p:spPr>
          <a:xfrm>
            <a:off x="365760" y="0"/>
            <a:ext cx="8229600" cy="822960"/>
          </a:xfrm>
          <a:prstGeom prst="rect">
            <a:avLst/>
          </a:prstGeom>
          <a:noFill/>
        </p:spPr>
        <p:txBody>
          <a:bodyPr wrap="square" lIns="91440" tIns="45720" rIns="91440" bIns="45720" rtlCol="0" anchor="ctr"/>
          <a:lstStyle/>
          <a:p>
            <a:r>
              <a:rPr lang="en-US" sz="2400" b="1" dirty="0">
                <a:latin typeface="Calibri" panose="020F0502020204030204"/>
                <a:ea typeface="Calibri" panose="020F0502020204030204"/>
                <a:cs typeface="Calibri" panose="020F0502020204030204"/>
              </a:rPr>
              <a:t>Features </a:t>
            </a:r>
            <a:r>
              <a:rPr lang="en-US" sz="2400" b="1">
                <a:latin typeface="Calibri" panose="020F0502020204030204"/>
                <a:ea typeface="Calibri" panose="020F0502020204030204"/>
                <a:cs typeface="Calibri" panose="020F0502020204030204"/>
              </a:rPr>
              <a:t>Selection &amp; Best Model</a:t>
            </a:r>
            <a:endParaRPr lang="en-US" sz="2400" b="1" dirty="0">
              <a:latin typeface="Calibri" panose="020F0502020204030204"/>
              <a:ea typeface="Calibri" panose="020F0502020204030204"/>
              <a:cs typeface="Calibri" panose="020F0502020204030204"/>
            </a:endParaRPr>
          </a:p>
        </p:txBody>
      </p:sp>
      <p:sp>
        <p:nvSpPr>
          <p:cNvPr id="4" name="Text 2"/>
          <p:cNvSpPr/>
          <p:nvPr/>
        </p:nvSpPr>
        <p:spPr>
          <a:xfrm>
            <a:off x="365760" y="914400"/>
            <a:ext cx="5029200" cy="320040"/>
          </a:xfrm>
          <a:prstGeom prst="rect">
            <a:avLst/>
          </a:prstGeom>
          <a:noFill/>
        </p:spPr>
        <p:txBody>
          <a:bodyPr wrap="square" rtlCol="0" anchor="ctr"/>
          <a:lstStyle/>
          <a:p>
            <a:pPr marL="0" indent="0">
              <a:buNone/>
            </a:pPr>
            <a:r>
              <a:rPr lang="en-US" sz="1300" b="1" dirty="0">
                <a:solidFill>
                  <a:srgbClr val="1B2A4A"/>
                </a:solidFill>
                <a:latin typeface="Calibri" panose="020F0502020204030204" pitchFamily="34" charset="0"/>
                <a:ea typeface="Calibri" panose="020F0502020204030204" pitchFamily="34" charset="-122"/>
                <a:cs typeface="Calibri" panose="020F0502020204030204" pitchFamily="34" charset="-120"/>
              </a:rPr>
              <a:t>Model Comparison</a:t>
            </a:r>
            <a:endParaRPr lang="en-US" sz="1300" dirty="0"/>
          </a:p>
        </p:txBody>
      </p:sp>
      <p:graphicFrame>
        <p:nvGraphicFramePr>
          <p:cNvPr id="9" name="Table 0"/>
          <p:cNvGraphicFramePr>
            <a:graphicFrameLocks noGrp="1"/>
          </p:cNvGraphicFramePr>
          <p:nvPr/>
        </p:nvGraphicFramePr>
        <p:xfrm>
          <a:off x="135316" y="1261872"/>
          <a:ext cx="5029200" cy="2011680"/>
        </p:xfrm>
        <a:graphic>
          <a:graphicData uri="http://schemas.openxmlformats.org/drawingml/2006/table">
            <a:tbl>
              <a:tblPr/>
              <a:tblGrid>
                <a:gridCol w="1828800"/>
                <a:gridCol w="1097280"/>
                <a:gridCol w="1097280"/>
                <a:gridCol w="1005840"/>
              </a:tblGrid>
              <a:tr h="402336">
                <a:tc>
                  <a:txBody>
                    <a:bodyP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Model</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Precision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Recall</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2A4A"/>
                    </a:solidFill>
                  </a:tcPr>
                </a:tc>
                <a:tc>
                  <a:txBody>
                    <a:bodyP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AUC</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2A4A"/>
                    </a:solidFill>
                  </a:tcPr>
                </a:tc>
              </a:tr>
              <a:tr h="402336">
                <a:tc>
                  <a:txBody>
                    <a:bodyPr/>
                    <a:lstStyle/>
                    <a:p>
                      <a:pPr marL="0" indent="0" algn="ctr">
                        <a:buNone/>
                      </a:pPr>
                      <a:r>
                        <a:rPr lang="en-US" sz="1100" dirty="0">
                          <a:solidFill>
                            <a:srgbClr val="000000"/>
                          </a:solidFill>
                          <a:latin typeface="Calibri" panose="020F0502020204030204" pitchFamily="34" charset="0"/>
                          <a:ea typeface="Calibri" panose="020F0502020204030204" pitchFamily="34" charset="-122"/>
                          <a:cs typeface="Calibri" panose="020F0502020204030204" pitchFamily="34" charset="-120"/>
                        </a:rPr>
                        <a:t>Logistic Regression</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anose="020F0502020204030204" pitchFamily="34" charset="0"/>
                          <a:ea typeface="Calibri" panose="020F0502020204030204" pitchFamily="34" charset="-122"/>
                          <a:cs typeface="Calibri" panose="020F0502020204030204" pitchFamily="34" charset="-120"/>
                        </a:rPr>
                        <a:t>≥ 0.3 ✓</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anose="020F0502020204030204" pitchFamily="34" charset="0"/>
                          <a:ea typeface="Calibri" panose="020F0502020204030204" pitchFamily="34" charset="-122"/>
                          <a:cs typeface="Calibri" panose="020F0502020204030204" pitchFamily="34" charset="-120"/>
                        </a:rPr>
                        <a:t>≥ 0.3 ✓</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anose="020F0502020204030204" pitchFamily="34" charset="0"/>
                          <a:ea typeface="Calibri" panose="020F0502020204030204" pitchFamily="34" charset="-122"/>
                          <a:cs typeface="Calibri" panose="020F0502020204030204" pitchFamily="34" charset="-120"/>
                        </a:rPr>
                        <a:t>Good</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02336">
                <a:tc>
                  <a:txBody>
                    <a:bodyPr/>
                    <a:lstStyle/>
                    <a:p>
                      <a:pPr marL="0" indent="0" algn="ctr">
                        <a:buNone/>
                      </a:pPr>
                      <a:r>
                        <a:rPr lang="en-US" sz="1100" dirty="0">
                          <a:solidFill>
                            <a:srgbClr val="000000"/>
                          </a:solidFill>
                          <a:latin typeface="Calibri" panose="020F0502020204030204" pitchFamily="34" charset="0"/>
                          <a:ea typeface="Calibri" panose="020F0502020204030204" pitchFamily="34" charset="-122"/>
                          <a:cs typeface="Calibri" panose="020F0502020204030204" pitchFamily="34" charset="-120"/>
                        </a:rPr>
                        <a:t>Random Forest</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anose="020F0502020204030204" pitchFamily="34" charset="0"/>
                          <a:ea typeface="Calibri" panose="020F0502020204030204" pitchFamily="34" charset="-122"/>
                          <a:cs typeface="Calibri" panose="020F0502020204030204" pitchFamily="34" charset="-120"/>
                        </a:rPr>
                        <a:t>≥ 0.3 ✓</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anose="020F0502020204030204" pitchFamily="34" charset="0"/>
                          <a:ea typeface="Calibri" panose="020F0502020204030204" pitchFamily="34" charset="-122"/>
                          <a:cs typeface="Calibri" panose="020F0502020204030204" pitchFamily="34" charset="-120"/>
                        </a:rPr>
                        <a:t>≥ 0.3 ✓</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anose="020F0502020204030204" pitchFamily="34" charset="0"/>
                          <a:ea typeface="Calibri" panose="020F0502020204030204" pitchFamily="34" charset="-122"/>
                          <a:cs typeface="Calibri" panose="020F0502020204030204" pitchFamily="34" charset="-120"/>
                        </a:rPr>
                        <a:t>Better</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02336">
                <a:tc>
                  <a:txBody>
                    <a:bodyPr/>
                    <a:lstStyle/>
                    <a:p>
                      <a:pPr marL="0" indent="0" algn="ctr">
                        <a:buNone/>
                      </a:pPr>
                      <a:r>
                        <a:rPr lang="en-US" sz="1100" dirty="0">
                          <a:solidFill>
                            <a:srgbClr val="000000"/>
                          </a:solidFill>
                          <a:latin typeface="Calibri" panose="020F0502020204030204" pitchFamily="34" charset="0"/>
                          <a:ea typeface="Calibri" panose="020F0502020204030204" pitchFamily="34" charset="-122"/>
                          <a:cs typeface="Calibri" panose="020F0502020204030204" pitchFamily="34" charset="-120"/>
                        </a:rPr>
                        <a:t>SVM (RBF)</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anose="020F0502020204030204" pitchFamily="34" charset="0"/>
                          <a:ea typeface="Calibri" panose="020F0502020204030204" pitchFamily="34" charset="-122"/>
                          <a:cs typeface="Calibri" panose="020F0502020204030204" pitchFamily="34" charset="-120"/>
                        </a:rPr>
                        <a:t>≥ 0.3 ✓</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anose="020F0502020204030204" pitchFamily="34" charset="0"/>
                          <a:ea typeface="Calibri" panose="020F0502020204030204" pitchFamily="34" charset="-122"/>
                          <a:cs typeface="Calibri" panose="020F0502020204030204" pitchFamily="34" charset="-120"/>
                        </a:rPr>
                        <a:t>≥ 0.3 ✓</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marL="0" indent="0" algn="ctr">
                        <a:buNone/>
                      </a:pPr>
                      <a:r>
                        <a:rPr lang="en-US" sz="1100" dirty="0">
                          <a:solidFill>
                            <a:srgbClr val="000000"/>
                          </a:solidFill>
                          <a:latin typeface="Calibri" panose="020F0502020204030204" pitchFamily="34" charset="0"/>
                          <a:ea typeface="Calibri" panose="020F0502020204030204" pitchFamily="34" charset="-122"/>
                          <a:cs typeface="Calibri" panose="020F0502020204030204" pitchFamily="34" charset="-120"/>
                        </a:rPr>
                        <a:t>Good</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02336">
                <a:tc>
                  <a:txBody>
                    <a:bodyP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Tuned RF ★ Best</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tc>
                  <a:txBody>
                    <a:bodyP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BEST ✓</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tc>
                  <a:txBody>
                    <a:bodyP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BEST ✓</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tc>
                  <a:txBody>
                    <a:bodyPr/>
                    <a:lstStyle/>
                    <a:p>
                      <a:pPr marL="0" indent="0" algn="ctr">
                        <a:buNone/>
                      </a:pPr>
                      <a:r>
                        <a:rPr lang="en-US" sz="1100" b="1" dirty="0">
                          <a:solidFill>
                            <a:srgbClr val="FFFFFF"/>
                          </a:solidFill>
                          <a:latin typeface="Calibri" panose="020F0502020204030204" pitchFamily="34" charset="0"/>
                          <a:ea typeface="Calibri" panose="020F0502020204030204" pitchFamily="34" charset="-122"/>
                          <a:cs typeface="Calibri" panose="020F0502020204030204" pitchFamily="34" charset="-120"/>
                        </a:rPr>
                        <a:t>BEST ✓</a:t>
                      </a:r>
                      <a:endParaRPr lang="en-US" sz="1100" dirty="0">
                        <a:latin typeface="Calibri" panose="020F0502020204030204" pitchFamily="34" charset="0"/>
                        <a:ea typeface="Calibri" panose="020F0502020204030204" pitchFamily="34" charset="0"/>
                        <a:cs typeface="Calibri" panose="020F0502020204030204" pitchFamily="34"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2563EB"/>
                    </a:solidFill>
                  </a:tcPr>
                </a:tc>
              </a:tr>
            </a:tbl>
          </a:graphicData>
        </a:graphic>
      </p:graphicFrame>
      <p:sp>
        <p:nvSpPr>
          <p:cNvPr id="6" name="Text 3"/>
          <p:cNvSpPr/>
          <p:nvPr/>
        </p:nvSpPr>
        <p:spPr>
          <a:xfrm>
            <a:off x="5577840" y="914400"/>
            <a:ext cx="3291840" cy="320040"/>
          </a:xfrm>
          <a:prstGeom prst="rect">
            <a:avLst/>
          </a:prstGeom>
          <a:noFill/>
        </p:spPr>
        <p:txBody>
          <a:bodyPr wrap="square" rtlCol="0" anchor="ctr"/>
          <a:lstStyle/>
          <a:p>
            <a:pPr marL="0" indent="0">
              <a:buNone/>
            </a:pPr>
            <a:r>
              <a:rPr lang="en-US" sz="1300" b="1" dirty="0">
                <a:solidFill>
                  <a:srgbClr val="1B2A4A"/>
                </a:solidFill>
                <a:latin typeface="Calibri" panose="020F0502020204030204" pitchFamily="34" charset="0"/>
                <a:ea typeface="Calibri" panose="020F0502020204030204" pitchFamily="34" charset="-122"/>
                <a:cs typeface="Calibri" panose="020F0502020204030204" pitchFamily="34" charset="-120"/>
              </a:rPr>
              <a:t>Top Features (Embedded Method)</a:t>
            </a:r>
            <a:endParaRPr lang="en-US" sz="1300" dirty="0"/>
          </a:p>
        </p:txBody>
      </p:sp>
      <p:sp>
        <p:nvSpPr>
          <p:cNvPr id="22" name="Text 19"/>
          <p:cNvSpPr/>
          <p:nvPr/>
        </p:nvSpPr>
        <p:spPr>
          <a:xfrm>
            <a:off x="5577840" y="3401568"/>
            <a:ext cx="3291840" cy="411480"/>
          </a:xfrm>
          <a:prstGeom prst="rect">
            <a:avLst/>
          </a:prstGeom>
          <a:noFill/>
        </p:spPr>
        <p:txBody>
          <a:bodyPr wrap="square" rtlCol="0" anchor="ctr"/>
          <a:lstStyle/>
          <a:p>
            <a:pPr marL="0" indent="0">
              <a:buNone/>
            </a:pPr>
            <a:r>
              <a:rPr lang="en-US" sz="950" i="1" dirty="0">
                <a:solidFill>
                  <a:srgbClr val="0891B2"/>
                </a:solidFill>
                <a:latin typeface="Calibri" panose="020F0502020204030204" pitchFamily="34" charset="0"/>
                <a:ea typeface="Calibri" panose="020F0502020204030204" pitchFamily="34" charset="-122"/>
                <a:cs typeface="Calibri" panose="020F0502020204030204" pitchFamily="34" charset="-120"/>
              </a:rPr>
              <a:t>★ glucose_bmi_ratio ranked in top 3 — confirming feature engineering added value</a:t>
            </a:r>
            <a:endParaRPr lang="en-US" sz="950" dirty="0"/>
          </a:p>
        </p:txBody>
      </p:sp>
      <p:sp>
        <p:nvSpPr>
          <p:cNvPr id="23" name="Shape 20"/>
          <p:cNvSpPr/>
          <p:nvPr/>
        </p:nvSpPr>
        <p:spPr>
          <a:xfrm>
            <a:off x="365760" y="3429000"/>
            <a:ext cx="8412480" cy="1417320"/>
          </a:xfrm>
          <a:prstGeom prst="rect">
            <a:avLst/>
          </a:prstGeom>
          <a:solidFill>
            <a:srgbClr val="1B2A4A"/>
          </a:solidFill>
          <a:effectLst>
            <a:outerShdw blurRad="101600" dist="38100" dir="8100000" algn="bl" rotWithShape="0">
              <a:srgbClr val="000000">
                <a:alpha val="12000"/>
              </a:srgbClr>
            </a:outerShdw>
          </a:effectLst>
        </p:spPr>
      </p:sp>
      <p:sp>
        <p:nvSpPr>
          <p:cNvPr id="24" name="Text 21"/>
          <p:cNvSpPr/>
          <p:nvPr/>
        </p:nvSpPr>
        <p:spPr>
          <a:xfrm>
            <a:off x="548640" y="3474720"/>
            <a:ext cx="2743200" cy="347472"/>
          </a:xfrm>
          <a:prstGeom prst="rect">
            <a:avLst/>
          </a:prstGeom>
          <a:noFill/>
        </p:spPr>
        <p:txBody>
          <a:bodyPr wrap="square" rtlCol="0" anchor="ctr"/>
          <a:lstStyle/>
          <a:p>
            <a:pPr marL="0" indent="0">
              <a:buNone/>
            </a:pPr>
            <a:r>
              <a:rPr lang="en-US" sz="1300" b="1" dirty="0">
                <a:solidFill>
                  <a:srgbClr val="BAE6FD"/>
                </a:solidFill>
                <a:latin typeface="Calibri" panose="020F0502020204030204" pitchFamily="34" charset="0"/>
                <a:ea typeface="Calibri" panose="020F0502020204030204" pitchFamily="34" charset="-122"/>
                <a:cs typeface="Calibri" panose="020F0502020204030204" pitchFamily="34" charset="-120"/>
              </a:rPr>
              <a:t>Key Findings</a:t>
            </a:r>
            <a:endParaRPr lang="en-US" sz="1300" dirty="0"/>
          </a:p>
        </p:txBody>
      </p:sp>
      <p:sp>
        <p:nvSpPr>
          <p:cNvPr id="25" name="Shape 22"/>
          <p:cNvSpPr/>
          <p:nvPr/>
        </p:nvSpPr>
        <p:spPr>
          <a:xfrm>
            <a:off x="502920" y="3886200"/>
            <a:ext cx="91440" cy="91440"/>
          </a:xfrm>
          <a:prstGeom prst="ellipse">
            <a:avLst/>
          </a:prstGeom>
          <a:solidFill>
            <a:srgbClr val="C00000"/>
          </a:solidFill>
        </p:spPr>
      </p:sp>
      <p:sp>
        <p:nvSpPr>
          <p:cNvPr id="26" name="Text 23"/>
          <p:cNvSpPr/>
          <p:nvPr/>
        </p:nvSpPr>
        <p:spPr>
          <a:xfrm>
            <a:off x="658368" y="3840480"/>
            <a:ext cx="7955280" cy="219456"/>
          </a:xfrm>
          <a:prstGeom prst="rect">
            <a:avLst/>
          </a:prstGeom>
          <a:noFill/>
        </p:spPr>
        <p:txBody>
          <a:bodyPr wrap="square" lIns="91440" tIns="45720" rIns="91440" bIns="45720" rtlCol="0" anchor="ctr"/>
          <a:lstStyle/>
          <a:p>
            <a:pPr marL="0" indent="0">
              <a:buNone/>
            </a:pPr>
            <a:r>
              <a:rPr lang="en-US" sz="1050">
                <a:solidFill>
                  <a:srgbClr val="FFFFFF"/>
                </a:solidFill>
                <a:latin typeface="Calibri" panose="020F0502020204030204"/>
                <a:ea typeface="Calibri" panose="020F0502020204030204"/>
                <a:cs typeface="Calibri" panose="020F0502020204030204"/>
              </a:rPr>
              <a:t>Age is the single most powerful predictor =stroke risk rises sharply after 60</a:t>
            </a:r>
            <a:endParaRPr lang="en-US" sz="1050">
              <a:latin typeface="Calibri" panose="020F0502020204030204"/>
              <a:ea typeface="Calibri" panose="020F0502020204030204"/>
              <a:cs typeface="Calibri" panose="020F0502020204030204"/>
            </a:endParaRPr>
          </a:p>
        </p:txBody>
      </p:sp>
      <p:sp>
        <p:nvSpPr>
          <p:cNvPr id="27" name="Shape 24"/>
          <p:cNvSpPr/>
          <p:nvPr/>
        </p:nvSpPr>
        <p:spPr>
          <a:xfrm>
            <a:off x="502920" y="4105656"/>
            <a:ext cx="91440" cy="91440"/>
          </a:xfrm>
          <a:prstGeom prst="ellipse">
            <a:avLst/>
          </a:prstGeom>
          <a:solidFill>
            <a:srgbClr val="C00000"/>
          </a:solidFill>
        </p:spPr>
      </p:sp>
      <p:sp>
        <p:nvSpPr>
          <p:cNvPr id="28" name="Text 25"/>
          <p:cNvSpPr/>
          <p:nvPr/>
        </p:nvSpPr>
        <p:spPr>
          <a:xfrm>
            <a:off x="658368" y="4059936"/>
            <a:ext cx="7955280" cy="219456"/>
          </a:xfrm>
          <a:prstGeom prst="rect">
            <a:avLst/>
          </a:prstGeom>
          <a:noFill/>
        </p:spPr>
        <p:txBody>
          <a:bodyPr wrap="square" lIns="91440" tIns="45720" rIns="91440" bIns="45720" rtlCol="0" anchor="ctr"/>
          <a:lstStyle/>
          <a:p>
            <a:pPr marL="0" indent="0">
              <a:buNone/>
            </a:pPr>
            <a:r>
              <a:rPr lang="en-US" sz="1050">
                <a:solidFill>
                  <a:srgbClr val="FFFFFF"/>
                </a:solidFill>
                <a:latin typeface="Calibri" panose="020F0502020204030204"/>
                <a:ea typeface="Calibri" panose="020F0502020204030204"/>
                <a:cs typeface="Calibri" panose="020F0502020204030204"/>
              </a:rPr>
              <a:t>Precision &amp; Recall both ≥ 0.3 ✓ =project requirement met for all models</a:t>
            </a:r>
            <a:endParaRPr lang="en-US" sz="1050" dirty="0">
              <a:latin typeface="Calibri" panose="020F0502020204030204"/>
              <a:ea typeface="Calibri" panose="020F0502020204030204"/>
              <a:cs typeface="Calibri" panose="020F0502020204030204"/>
            </a:endParaRPr>
          </a:p>
        </p:txBody>
      </p:sp>
      <p:sp>
        <p:nvSpPr>
          <p:cNvPr id="29" name="Shape 26"/>
          <p:cNvSpPr/>
          <p:nvPr/>
        </p:nvSpPr>
        <p:spPr>
          <a:xfrm>
            <a:off x="502920" y="4325112"/>
            <a:ext cx="91440" cy="91440"/>
          </a:xfrm>
          <a:prstGeom prst="ellipse">
            <a:avLst/>
          </a:prstGeom>
          <a:solidFill>
            <a:srgbClr val="C00000"/>
          </a:solidFill>
        </p:spPr>
      </p:sp>
      <p:sp>
        <p:nvSpPr>
          <p:cNvPr id="30" name="Text 27"/>
          <p:cNvSpPr/>
          <p:nvPr/>
        </p:nvSpPr>
        <p:spPr>
          <a:xfrm>
            <a:off x="658368" y="4279392"/>
            <a:ext cx="7955280" cy="219456"/>
          </a:xfrm>
          <a:prstGeom prst="rect">
            <a:avLst/>
          </a:prstGeom>
          <a:noFill/>
        </p:spPr>
        <p:txBody>
          <a:bodyPr wrap="square" rtlCol="0" anchor="ctr"/>
          <a:lstStyle/>
          <a:p>
            <a:pPr marL="0" indent="0">
              <a:buNone/>
            </a:pPr>
            <a:r>
              <a:rPr lang="en-US" sz="1050" dirty="0">
                <a:solidFill>
                  <a:srgbClr val="FFFFFF"/>
                </a:solidFill>
                <a:latin typeface="Calibri" panose="020F0502020204030204" pitchFamily="34" charset="0"/>
                <a:ea typeface="Calibri" panose="020F0502020204030204" pitchFamily="34" charset="-122"/>
                <a:cs typeface="Calibri" panose="020F0502020204030204" pitchFamily="34" charset="-120"/>
              </a:rPr>
              <a:t>Tuned Random Forest outperforms all others across every metric</a:t>
            </a:r>
            <a:endParaRPr lang="en-US" sz="1050" dirty="0"/>
          </a:p>
        </p:txBody>
      </p:sp>
      <p:sp>
        <p:nvSpPr>
          <p:cNvPr id="31" name="Shape 28"/>
          <p:cNvSpPr/>
          <p:nvPr/>
        </p:nvSpPr>
        <p:spPr>
          <a:xfrm>
            <a:off x="502920" y="4544568"/>
            <a:ext cx="91440" cy="91440"/>
          </a:xfrm>
          <a:prstGeom prst="ellipse">
            <a:avLst/>
          </a:prstGeom>
          <a:solidFill>
            <a:srgbClr val="C00000"/>
          </a:solidFill>
        </p:spPr>
      </p:sp>
      <p:sp>
        <p:nvSpPr>
          <p:cNvPr id="32" name="Text 29"/>
          <p:cNvSpPr/>
          <p:nvPr/>
        </p:nvSpPr>
        <p:spPr>
          <a:xfrm>
            <a:off x="658368" y="4498848"/>
            <a:ext cx="7955280" cy="219456"/>
          </a:xfrm>
          <a:prstGeom prst="rect">
            <a:avLst/>
          </a:prstGeom>
          <a:noFill/>
        </p:spPr>
        <p:txBody>
          <a:bodyPr wrap="square" rtlCol="0" anchor="ctr"/>
          <a:lstStyle/>
          <a:p>
            <a:pPr marL="0" indent="0">
              <a:buNone/>
            </a:pPr>
            <a:r>
              <a:rPr lang="en-US" sz="1050" dirty="0">
                <a:solidFill>
                  <a:srgbClr val="FFFFFF"/>
                </a:solidFill>
                <a:latin typeface="Calibri" panose="020F0502020204030204" pitchFamily="34" charset="0"/>
                <a:ea typeface="Calibri" panose="020F0502020204030204" pitchFamily="34" charset="-122"/>
                <a:cs typeface="Calibri" panose="020F0502020204030204" pitchFamily="34" charset="-120"/>
              </a:rPr>
              <a:t>Engineered feature glucose_bmi_ratio ranks in the top 3 most important features</a:t>
            </a:r>
            <a:endParaRPr lang="en-US" sz="1050" dirty="0"/>
          </a:p>
        </p:txBody>
      </p:sp>
      <p:pic>
        <p:nvPicPr>
          <p:cNvPr id="33" name="Picture 32" descr="A graph with blue squares&#10;&#10;AI-generated content may be incorrect."/>
          <p:cNvPicPr>
            <a:picLocks noChangeAspect="1"/>
          </p:cNvPicPr>
          <p:nvPr/>
        </p:nvPicPr>
        <p:blipFill>
          <a:blip r:embed="rId1"/>
          <a:stretch>
            <a:fillRect/>
          </a:stretch>
        </p:blipFill>
        <p:spPr>
          <a:xfrm>
            <a:off x="5254113" y="1295421"/>
            <a:ext cx="3871452" cy="200881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F6FF"/>
        </a:solidFill>
        <a:effectLst/>
      </p:bgPr>
    </p:bg>
    <p:spTree>
      <p:nvGrpSpPr>
        <p:cNvPr id="1" name=""/>
        <p:cNvGrpSpPr/>
        <p:nvPr/>
      </p:nvGrpSpPr>
      <p:grpSpPr>
        <a:xfrm>
          <a:off x="0" y="0"/>
          <a:ext cx="0" cy="0"/>
          <a:chOff x="0" y="0"/>
          <a:chExt cx="0" cy="0"/>
        </a:xfrm>
      </p:grpSpPr>
      <p:sp>
        <p:nvSpPr>
          <p:cNvPr id="3" name="Text 1"/>
          <p:cNvSpPr/>
          <p:nvPr/>
        </p:nvSpPr>
        <p:spPr>
          <a:xfrm>
            <a:off x="365760" y="0"/>
            <a:ext cx="8229600" cy="822960"/>
          </a:xfrm>
          <a:prstGeom prst="rect">
            <a:avLst/>
          </a:prstGeom>
          <a:noFill/>
        </p:spPr>
        <p:txBody>
          <a:bodyPr wrap="square" lIns="91440" tIns="45720" rIns="91440" bIns="45720" rtlCol="0" anchor="ctr"/>
          <a:lstStyle/>
          <a:p>
            <a:pPr marL="0" indent="0">
              <a:buNone/>
            </a:pPr>
            <a:endParaRPr lang="en-US" sz="2400" b="1" dirty="0">
              <a:solidFill>
                <a:srgbClr val="FFFFFF"/>
              </a:solidFill>
              <a:ea typeface="Calibri" panose="020F0502020204030204"/>
              <a:cs typeface="Calibri" panose="020F0502020204030204"/>
            </a:endParaRPr>
          </a:p>
        </p:txBody>
      </p:sp>
      <p:sp>
        <p:nvSpPr>
          <p:cNvPr id="34" name="Text 32"/>
          <p:cNvSpPr/>
          <p:nvPr/>
        </p:nvSpPr>
        <p:spPr>
          <a:xfrm>
            <a:off x="5815657" y="812636"/>
            <a:ext cx="3108960" cy="347472"/>
          </a:xfrm>
          <a:prstGeom prst="rect">
            <a:avLst/>
          </a:prstGeom>
          <a:noFill/>
        </p:spPr>
        <p:txBody>
          <a:bodyPr wrap="square" rtlCol="0" anchor="ctr"/>
          <a:lstStyle/>
          <a:p>
            <a:pPr marL="0" indent="0">
              <a:buNone/>
            </a:pPr>
            <a:r>
              <a:rPr lang="en-US" sz="1300" b="1" dirty="0">
                <a:solidFill>
                  <a:srgbClr val="1B2A4A"/>
                </a:solidFill>
                <a:latin typeface="Calibri" panose="020F0502020204030204" pitchFamily="34" charset="0"/>
                <a:ea typeface="Calibri" panose="020F0502020204030204" pitchFamily="34" charset="-122"/>
                <a:cs typeface="Calibri" panose="020F0502020204030204" pitchFamily="34" charset="-120"/>
              </a:rPr>
              <a:t>How Deployment Works</a:t>
            </a:r>
            <a:endParaRPr lang="en-US" sz="1300" dirty="0"/>
          </a:p>
        </p:txBody>
      </p:sp>
      <p:sp>
        <p:nvSpPr>
          <p:cNvPr id="35" name="Shape 33"/>
          <p:cNvSpPr/>
          <p:nvPr/>
        </p:nvSpPr>
        <p:spPr>
          <a:xfrm>
            <a:off x="5806440" y="1389888"/>
            <a:ext cx="438912" cy="438912"/>
          </a:xfrm>
          <a:prstGeom prst="ellipse">
            <a:avLst/>
          </a:prstGeom>
          <a:solidFill>
            <a:srgbClr val="2563EB"/>
          </a:solidFill>
        </p:spPr>
      </p:sp>
      <p:sp>
        <p:nvSpPr>
          <p:cNvPr id="36" name="Text 34"/>
          <p:cNvSpPr/>
          <p:nvPr/>
        </p:nvSpPr>
        <p:spPr>
          <a:xfrm>
            <a:off x="5806440" y="1389888"/>
            <a:ext cx="438912" cy="438912"/>
          </a:xfrm>
          <a:prstGeom prst="rect">
            <a:avLst/>
          </a:prstGeom>
          <a:solidFill>
            <a:srgbClr val="C00000"/>
          </a:solidFill>
        </p:spPr>
        <p:txBody>
          <a:bodyPr wrap="square"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600" dirty="0"/>
          </a:p>
        </p:txBody>
      </p:sp>
      <p:sp>
        <p:nvSpPr>
          <p:cNvPr id="37" name="Text 35"/>
          <p:cNvSpPr/>
          <p:nvPr/>
        </p:nvSpPr>
        <p:spPr>
          <a:xfrm>
            <a:off x="6327648" y="1408176"/>
            <a:ext cx="2560320" cy="502920"/>
          </a:xfrm>
          <a:prstGeom prst="rect">
            <a:avLst/>
          </a:prstGeom>
          <a:noFill/>
        </p:spPr>
        <p:txBody>
          <a:bodyPr wrap="square" rtlCol="0" anchor="ctr"/>
          <a:lstStyle/>
          <a:p>
            <a:pPr marL="0" indent="0">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Model saved as</a:t>
            </a:r>
            <a:endParaRPr lang="en-US" sz="1100" dirty="0"/>
          </a:p>
          <a:p>
            <a:pPr marL="0" indent="0">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saved_model.pkl</a:t>
            </a:r>
            <a:endParaRPr lang="en-US" sz="1100" dirty="0"/>
          </a:p>
        </p:txBody>
      </p:sp>
      <p:sp>
        <p:nvSpPr>
          <p:cNvPr id="38" name="Shape 36"/>
          <p:cNvSpPr/>
          <p:nvPr/>
        </p:nvSpPr>
        <p:spPr>
          <a:xfrm>
            <a:off x="5998464" y="1847088"/>
            <a:ext cx="36576" cy="411480"/>
          </a:xfrm>
          <a:prstGeom prst="rect">
            <a:avLst/>
          </a:prstGeom>
          <a:solidFill>
            <a:srgbClr val="E2E8F0"/>
          </a:solidFill>
        </p:spPr>
      </p:sp>
      <p:sp>
        <p:nvSpPr>
          <p:cNvPr id="39" name="Shape 37"/>
          <p:cNvSpPr/>
          <p:nvPr/>
        </p:nvSpPr>
        <p:spPr>
          <a:xfrm>
            <a:off x="5806440" y="2258568"/>
            <a:ext cx="438912" cy="438912"/>
          </a:xfrm>
          <a:prstGeom prst="ellipse">
            <a:avLst/>
          </a:prstGeom>
          <a:solidFill>
            <a:srgbClr val="C00000"/>
          </a:solidFill>
        </p:spPr>
      </p:sp>
      <p:sp>
        <p:nvSpPr>
          <p:cNvPr id="40" name="Text 38"/>
          <p:cNvSpPr/>
          <p:nvPr/>
        </p:nvSpPr>
        <p:spPr>
          <a:xfrm>
            <a:off x="5806440" y="2258568"/>
            <a:ext cx="438912" cy="438912"/>
          </a:xfrm>
          <a:prstGeom prst="rect">
            <a:avLst/>
          </a:prstGeom>
          <a:noFill/>
        </p:spPr>
        <p:txBody>
          <a:bodyPr wrap="square"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600" dirty="0"/>
          </a:p>
        </p:txBody>
      </p:sp>
      <p:sp>
        <p:nvSpPr>
          <p:cNvPr id="41" name="Text 39"/>
          <p:cNvSpPr/>
          <p:nvPr/>
        </p:nvSpPr>
        <p:spPr>
          <a:xfrm>
            <a:off x="6327648" y="2276856"/>
            <a:ext cx="2560320" cy="502920"/>
          </a:xfrm>
          <a:prstGeom prst="rect">
            <a:avLst/>
          </a:prstGeom>
          <a:noFill/>
        </p:spPr>
        <p:txBody>
          <a:bodyPr wrap="square" rtlCol="0" anchor="ctr"/>
          <a:lstStyle/>
          <a:p>
            <a:pPr marL="0" indent="0">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Uploaded to</a:t>
            </a:r>
            <a:endParaRPr lang="en-US" sz="1100" dirty="0"/>
          </a:p>
          <a:p>
            <a:pPr marL="0" indent="0">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GitHub repository</a:t>
            </a:r>
            <a:endParaRPr lang="en-US" sz="1100" dirty="0"/>
          </a:p>
        </p:txBody>
      </p:sp>
      <p:sp>
        <p:nvSpPr>
          <p:cNvPr id="42" name="Shape 40"/>
          <p:cNvSpPr/>
          <p:nvPr/>
        </p:nvSpPr>
        <p:spPr>
          <a:xfrm>
            <a:off x="5998464" y="2715768"/>
            <a:ext cx="36576" cy="411480"/>
          </a:xfrm>
          <a:prstGeom prst="rect">
            <a:avLst/>
          </a:prstGeom>
          <a:solidFill>
            <a:srgbClr val="E2E8F0"/>
          </a:solidFill>
        </p:spPr>
      </p:sp>
      <p:sp>
        <p:nvSpPr>
          <p:cNvPr id="43" name="Shape 41"/>
          <p:cNvSpPr/>
          <p:nvPr/>
        </p:nvSpPr>
        <p:spPr>
          <a:xfrm>
            <a:off x="5806440" y="3127248"/>
            <a:ext cx="438912" cy="438912"/>
          </a:xfrm>
          <a:prstGeom prst="ellipse">
            <a:avLst/>
          </a:prstGeom>
          <a:solidFill>
            <a:srgbClr val="C00000"/>
          </a:solidFill>
        </p:spPr>
      </p:sp>
      <p:sp>
        <p:nvSpPr>
          <p:cNvPr id="44" name="Text 42"/>
          <p:cNvSpPr/>
          <p:nvPr/>
        </p:nvSpPr>
        <p:spPr>
          <a:xfrm>
            <a:off x="5806440" y="3127248"/>
            <a:ext cx="438912" cy="438912"/>
          </a:xfrm>
          <a:prstGeom prst="rect">
            <a:avLst/>
          </a:prstGeom>
          <a:noFill/>
        </p:spPr>
        <p:txBody>
          <a:bodyPr wrap="square"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600" dirty="0"/>
          </a:p>
        </p:txBody>
      </p:sp>
      <p:sp>
        <p:nvSpPr>
          <p:cNvPr id="45" name="Text 43"/>
          <p:cNvSpPr/>
          <p:nvPr/>
        </p:nvSpPr>
        <p:spPr>
          <a:xfrm>
            <a:off x="6327648" y="3145536"/>
            <a:ext cx="2560320" cy="502920"/>
          </a:xfrm>
          <a:prstGeom prst="rect">
            <a:avLst/>
          </a:prstGeom>
          <a:noFill/>
        </p:spPr>
        <p:txBody>
          <a:bodyPr wrap="square" rtlCol="0" anchor="ctr"/>
          <a:lstStyle/>
          <a:p>
            <a:pPr marL="0" indent="0">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Streamlit Cloud</a:t>
            </a:r>
            <a:endParaRPr lang="en-US" sz="1100" dirty="0"/>
          </a:p>
          <a:p>
            <a:pPr marL="0" indent="0">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reads requirements.txt</a:t>
            </a:r>
            <a:endParaRPr lang="en-US" sz="1100" dirty="0"/>
          </a:p>
        </p:txBody>
      </p:sp>
      <p:sp>
        <p:nvSpPr>
          <p:cNvPr id="46" name="Shape 44"/>
          <p:cNvSpPr/>
          <p:nvPr/>
        </p:nvSpPr>
        <p:spPr>
          <a:xfrm>
            <a:off x="5998464" y="3584448"/>
            <a:ext cx="36576" cy="411480"/>
          </a:xfrm>
          <a:prstGeom prst="rect">
            <a:avLst/>
          </a:prstGeom>
          <a:solidFill>
            <a:srgbClr val="E2E8F0"/>
          </a:solidFill>
        </p:spPr>
      </p:sp>
      <p:sp>
        <p:nvSpPr>
          <p:cNvPr id="47" name="Shape 45"/>
          <p:cNvSpPr/>
          <p:nvPr/>
        </p:nvSpPr>
        <p:spPr>
          <a:xfrm>
            <a:off x="5806440" y="3995928"/>
            <a:ext cx="438912" cy="438912"/>
          </a:xfrm>
          <a:prstGeom prst="ellipse">
            <a:avLst/>
          </a:prstGeom>
          <a:solidFill>
            <a:srgbClr val="C00000"/>
          </a:solidFill>
        </p:spPr>
      </p:sp>
      <p:sp>
        <p:nvSpPr>
          <p:cNvPr id="48" name="Text 46"/>
          <p:cNvSpPr/>
          <p:nvPr/>
        </p:nvSpPr>
        <p:spPr>
          <a:xfrm>
            <a:off x="5806440" y="3995928"/>
            <a:ext cx="438912" cy="438912"/>
          </a:xfrm>
          <a:prstGeom prst="rect">
            <a:avLst/>
          </a:prstGeom>
          <a:noFill/>
        </p:spPr>
        <p:txBody>
          <a:bodyPr wrap="square" rtlCol="0" anchor="ctr"/>
          <a:lstStyle/>
          <a:p>
            <a:pPr marL="0" indent="0" algn="ctr">
              <a:buNone/>
            </a:pPr>
            <a:r>
              <a:rPr lang="en-US" sz="16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600" dirty="0"/>
          </a:p>
        </p:txBody>
      </p:sp>
      <p:sp>
        <p:nvSpPr>
          <p:cNvPr id="49" name="Text 47"/>
          <p:cNvSpPr/>
          <p:nvPr/>
        </p:nvSpPr>
        <p:spPr>
          <a:xfrm>
            <a:off x="6327648" y="4014216"/>
            <a:ext cx="2560320" cy="502920"/>
          </a:xfrm>
          <a:prstGeom prst="rect">
            <a:avLst/>
          </a:prstGeom>
          <a:noFill/>
        </p:spPr>
        <p:txBody>
          <a:bodyPr wrap="square" rtlCol="0" anchor="ctr"/>
          <a:lstStyle/>
          <a:p>
            <a:pPr marL="0" indent="0">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Live app at public</a:t>
            </a:r>
            <a:endParaRPr lang="en-US" sz="1100" dirty="0"/>
          </a:p>
          <a:p>
            <a:pPr marL="0" indent="0">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Streamlit URL</a:t>
            </a:r>
            <a:endParaRPr lang="en-US" sz="1100" dirty="0"/>
          </a:p>
        </p:txBody>
      </p:sp>
      <p:sp>
        <p:nvSpPr>
          <p:cNvPr id="62" name="Text 1"/>
          <p:cNvSpPr/>
          <p:nvPr/>
        </p:nvSpPr>
        <p:spPr>
          <a:xfrm>
            <a:off x="518160" y="152400"/>
            <a:ext cx="8229600" cy="822960"/>
          </a:xfrm>
          <a:prstGeom prst="rect">
            <a:avLst/>
          </a:prstGeom>
          <a:noFill/>
        </p:spPr>
        <p:txBody>
          <a:bodyPr wrap="square" lIns="91440" tIns="45720" rIns="91440" bIns="45720" rtlCol="0" anchor="ctr"/>
          <a:lstStyle/>
          <a:p>
            <a:r>
              <a:rPr lang="en-US" sz="2400" b="1" dirty="0" err="1">
                <a:latin typeface="Calibri" panose="020F0502020204030204"/>
                <a:ea typeface="Calibri" panose="020F0502020204030204"/>
                <a:cs typeface="Calibri" panose="020F0502020204030204"/>
              </a:rPr>
              <a:t>Streamlit</a:t>
            </a:r>
            <a:r>
              <a:rPr lang="en-US" sz="2400" b="1" dirty="0">
                <a:latin typeface="Calibri" panose="020F0502020204030204"/>
                <a:ea typeface="Calibri" panose="020F0502020204030204"/>
                <a:cs typeface="Calibri" panose="020F0502020204030204"/>
              </a:rPr>
              <a:t> Web Page = Deployment</a:t>
            </a:r>
            <a:endParaRPr lang="en-US" sz="2400" b="1" dirty="0">
              <a:latin typeface="Calibri" panose="020F0502020204030204"/>
              <a:ea typeface="Calibri" panose="020F0502020204030204"/>
              <a:cs typeface="Calibri" panose="020F0502020204030204"/>
            </a:endParaRPr>
          </a:p>
        </p:txBody>
      </p:sp>
      <p:pic>
        <p:nvPicPr>
          <p:cNvPr id="63" name="Picture 62" descr="A screenshot of a computer&#10;&#10;AI-generated content may be incorrect."/>
          <p:cNvPicPr>
            <a:picLocks noChangeAspect="1"/>
          </p:cNvPicPr>
          <p:nvPr/>
        </p:nvPicPr>
        <p:blipFill>
          <a:blip r:embed="rId1"/>
          <a:stretch>
            <a:fillRect/>
          </a:stretch>
        </p:blipFill>
        <p:spPr>
          <a:xfrm>
            <a:off x="0" y="838182"/>
            <a:ext cx="5797960" cy="3190604"/>
          </a:xfrm>
          <a:prstGeom prst="rect">
            <a:avLst/>
          </a:prstGeom>
        </p:spPr>
      </p:pic>
      <p:sp>
        <p:nvSpPr>
          <p:cNvPr id="73" name="Text 32"/>
          <p:cNvSpPr/>
          <p:nvPr/>
        </p:nvSpPr>
        <p:spPr>
          <a:xfrm>
            <a:off x="-309" y="4435006"/>
            <a:ext cx="11561626" cy="605564"/>
          </a:xfrm>
          <a:prstGeom prst="rect">
            <a:avLst/>
          </a:prstGeom>
          <a:noFill/>
        </p:spPr>
        <p:txBody>
          <a:bodyPr wrap="square" lIns="91440" tIns="45720" rIns="91440" bIns="45720" rtlCol="0" anchor="ctr"/>
          <a:lstStyle/>
          <a:p>
            <a:r>
              <a:rPr lang="en-US" sz="1300" b="1" i="1" u="sng">
                <a:solidFill>
                  <a:srgbClr val="1B2A4A"/>
                </a:solidFill>
                <a:ea typeface="+mn-lt"/>
                <a:cs typeface="+mn-lt"/>
              </a:rPr>
              <a:t>Deployment of model on web app link:</a:t>
            </a:r>
            <a:r>
              <a:rPr lang="en-US" sz="1300" b="1" i="1" dirty="0">
                <a:solidFill>
                  <a:srgbClr val="1B2A4A"/>
                </a:solidFill>
                <a:ea typeface="+mn-lt"/>
                <a:cs typeface="+mn-lt"/>
              </a:rPr>
              <a:t>  </a:t>
            </a:r>
            <a:r>
              <a:rPr lang="en-US" sz="1300">
                <a:solidFill>
                  <a:srgbClr val="1B2A4A"/>
                </a:solidFill>
                <a:ea typeface="+mn-lt"/>
                <a:cs typeface="+mn-lt"/>
              </a:rPr>
              <a:t>https://hala-awad-bfcz3jhwvppqpqurd8yc4z.streamlit.app/#stroke-risk-prediction-app</a:t>
            </a:r>
            <a:endParaRPr lang="en-US" sz="1300">
              <a:solidFill>
                <a:srgbClr val="1B2A4A"/>
              </a:solidFill>
              <a:ea typeface="+mn-lt"/>
              <a:cs typeface="+mn-lt"/>
            </a:endParaRPr>
          </a:p>
          <a:p>
            <a:r>
              <a:rPr lang="en-US"/>
              <a:t>GitHub Link: </a:t>
            </a:r>
            <a:r>
              <a:rPr lang="en-US" altLang="en-US"/>
              <a:t>https://github.com/halamr2004-byte/Stroke-Prediction-App-ML-project </a:t>
            </a:r>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00000"/>
          </a:solidFill>
        </p:spPr>
      </p:sp>
      <p:sp>
        <p:nvSpPr>
          <p:cNvPr id="44" name="Shape 42"/>
          <p:cNvSpPr/>
          <p:nvPr/>
        </p:nvSpPr>
        <p:spPr>
          <a:xfrm>
            <a:off x="1415716" y="954906"/>
            <a:ext cx="5980095" cy="3222858"/>
          </a:xfrm>
          <a:prstGeom prst="ellipse">
            <a:avLst/>
          </a:prstGeom>
          <a:solidFill>
            <a:srgbClr val="C00000"/>
          </a:solidFill>
        </p:spPr>
      </p:sp>
      <p:sp>
        <p:nvSpPr>
          <p:cNvPr id="46" name="Text 1"/>
          <p:cNvSpPr/>
          <p:nvPr/>
        </p:nvSpPr>
        <p:spPr>
          <a:xfrm>
            <a:off x="1790699" y="1769443"/>
            <a:ext cx="7241005" cy="1601402"/>
          </a:xfrm>
          <a:prstGeom prst="rect">
            <a:avLst/>
          </a:prstGeom>
          <a:noFill/>
        </p:spPr>
        <p:txBody>
          <a:bodyPr wrap="square" lIns="91440" tIns="45720" rIns="91440" bIns="45720" rtlCol="0" anchor="ctr"/>
          <a:lstStyle/>
          <a:p>
            <a:r>
              <a:rPr lang="en-US" sz="6600" b="1">
                <a:solidFill>
                  <a:schemeClr val="tx2">
                    <a:lumMod val="40000"/>
                    <a:lumOff val="60000"/>
                  </a:schemeClr>
                </a:solidFill>
                <a:ea typeface="Calibri" panose="020F0502020204030204"/>
                <a:cs typeface="Calibri" panose="020F0502020204030204"/>
              </a:rPr>
              <a:t>    Thank You</a:t>
            </a:r>
            <a:endParaRPr lang="en-US" sz="6600" b="1">
              <a:solidFill>
                <a:schemeClr val="tx2">
                  <a:lumMod val="40000"/>
                  <a:lumOff val="60000"/>
                </a:schemeClr>
              </a:solidFill>
              <a:ea typeface="Calibri" panose="020F0502020204030204"/>
              <a:cs typeface="Calibri" panose="020F0502020204030204"/>
            </a:endParaRPr>
          </a:p>
          <a:p>
            <a:r>
              <a:rPr lang="en-US" sz="6600" b="1">
                <a:solidFill>
                  <a:schemeClr val="tx2">
                    <a:lumMod val="40000"/>
                    <a:lumOff val="60000"/>
                  </a:schemeClr>
                </a:solidFill>
                <a:ea typeface="Calibri" panose="020F0502020204030204"/>
                <a:cs typeface="Calibri" panose="020F0502020204030204"/>
              </a:rPr>
              <a:t> For Listening !</a:t>
            </a:r>
            <a:endParaRPr lang="en-US" sz="6600" b="1">
              <a:solidFill>
                <a:schemeClr val="tx2">
                  <a:lumMod val="40000"/>
                  <a:lumOff val="60000"/>
                </a:schemeClr>
              </a:solidFill>
              <a:ea typeface="Calibri" panose="020F0502020204030204"/>
              <a:cs typeface="Calibri" panose="020F0502020204030204"/>
            </a:endParaRPr>
          </a:p>
        </p:txBody>
      </p:sp>
      <p:pic>
        <p:nvPicPr>
          <p:cNvPr id="48" name="Image 0" descr="preencoded.png"/>
          <p:cNvPicPr>
            <a:picLocks noChangeAspect="1"/>
          </p:cNvPicPr>
          <p:nvPr/>
        </p:nvPicPr>
        <p:blipFill>
          <a:blip r:embed="rId1"/>
          <a:stretch>
            <a:fillRect/>
          </a:stretch>
        </p:blipFill>
        <p:spPr>
          <a:xfrm>
            <a:off x="682993" y="407469"/>
            <a:ext cx="1388043" cy="1367990"/>
          </a:xfrm>
          <a:prstGeom prst="rect">
            <a:avLst/>
          </a:prstGeom>
        </p:spPr>
      </p:pic>
      <p:pic>
        <p:nvPicPr>
          <p:cNvPr id="50" name="Image 0" descr="preencoded.png"/>
          <p:cNvPicPr>
            <a:picLocks noChangeAspect="1"/>
          </p:cNvPicPr>
          <p:nvPr/>
        </p:nvPicPr>
        <p:blipFill>
          <a:blip r:embed="rId2"/>
          <a:stretch>
            <a:fillRect/>
          </a:stretch>
        </p:blipFill>
        <p:spPr>
          <a:xfrm>
            <a:off x="7832157" y="3996649"/>
            <a:ext cx="938463" cy="94848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3736</Words>
  <Application>WPS Presentation</Application>
  <PresentationFormat>On-screen Show (16:9)</PresentationFormat>
  <Paragraphs>291</Paragraphs>
  <Slides>12</Slides>
  <Notes>12</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12</vt:i4>
      </vt:variant>
    </vt:vector>
  </HeadingPairs>
  <TitlesOfParts>
    <vt:vector size="25" baseType="lpstr">
      <vt:lpstr>Arial</vt:lpstr>
      <vt:lpstr>SimSun</vt:lpstr>
      <vt:lpstr>Wingdings</vt:lpstr>
      <vt:lpstr>Calibri</vt:lpstr>
      <vt:lpstr>Calibri</vt:lpstr>
      <vt:lpstr>Calibri</vt:lpstr>
      <vt:lpstr>Calibri</vt:lpstr>
      <vt:lpstr>Consolas</vt:lpstr>
      <vt:lpstr>Consolas</vt:lpstr>
      <vt:lpstr>Consolas</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Stroke Prediction — ML Final Project</dc:title>
  <dc:creator>PptxGenJS</dc:creator>
  <dc:subject>PptxGenJS Presentation</dc:subject>
  <cp:lastModifiedBy>HP</cp:lastModifiedBy>
  <cp:revision>325</cp:revision>
  <dcterms:created xsi:type="dcterms:W3CDTF">2026-05-29T23:52:00Z</dcterms:created>
  <dcterms:modified xsi:type="dcterms:W3CDTF">2026-06-03T14:44:03Z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1033-12.1.0.26372</vt:lpwstr>
  </property>
  <property fmtid="{D5CDD505-2E9C-101B-9397-08002B2CF9AE}" pid="3" name="ICV">
    <vt:lpwstr>D713E5D21F1A448096FE18C1A3705A61_12</vt:lpwstr>
  </property>
</Properties>
</file>